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6"/>
  </p:notesMasterIdLst>
  <p:sldIdLst>
    <p:sldId id="280" r:id="rId5"/>
  </p:sldIdLst>
  <p:sldSz cx="7561263" cy="10693400"/>
  <p:notesSz cx="6802438" cy="9934575"/>
  <p:embeddedFontLst>
    <p:embeddedFont>
      <p:font typeface="휴먼둥근헤드라인" panose="02030504000101010101" pitchFamily="18" charset="-127"/>
      <p:regular r:id="rId7"/>
    </p:embeddedFont>
    <p:embeddedFont>
      <p:font typeface="나눔고딕" panose="020D0604000000000000" pitchFamily="50" charset="-127"/>
      <p:regular r:id="rId8"/>
      <p:bold r:id="rId9"/>
    </p:embeddedFont>
    <p:embeddedFont>
      <p:font typeface="나눔고딕 ExtraBold" panose="020D0904000000000000" pitchFamily="50" charset="-127"/>
      <p:bold r:id="rId10"/>
    </p:embeddedFont>
    <p:embeddedFont>
      <p:font typeface="원신한 Bold" panose="020B0803000000000000" pitchFamily="50" charset="-127"/>
      <p:bold r:id="rId11"/>
    </p:embeddedFont>
    <p:embeddedFont>
      <p:font typeface="원신한 Light" panose="020B0303000000000000" pitchFamily="50" charset="-127"/>
      <p:regular r:id="rId12"/>
    </p:embeddedFont>
    <p:embeddedFont>
      <p:font typeface="원신한 Medium" panose="020B0603000000000000" pitchFamily="50" charset="-127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98989A"/>
    <a:srgbClr val="FFF9B9"/>
    <a:srgbClr val="282781"/>
    <a:srgbClr val="0055B8"/>
    <a:srgbClr val="006C69"/>
    <a:srgbClr val="00AFAB"/>
    <a:srgbClr val="D0CFCD"/>
    <a:srgbClr val="CC0F19"/>
    <a:srgbClr val="BCEAFA"/>
    <a:srgbClr val="E3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14" autoAdjust="0"/>
    <p:restoredTop sz="96582" autoAdjust="0"/>
  </p:normalViewPr>
  <p:slideViewPr>
    <p:cSldViewPr>
      <p:cViewPr varScale="1">
        <p:scale>
          <a:sx n="74" d="100"/>
          <a:sy n="74" d="100"/>
        </p:scale>
        <p:origin x="27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7"/>
            <a:ext cx="2948464" cy="496730"/>
          </a:xfrm>
          <a:prstGeom prst="rect">
            <a:avLst/>
          </a:prstGeom>
        </p:spPr>
        <p:txBody>
          <a:bodyPr vert="horz" lIns="92034" tIns="46017" rIns="92034" bIns="46017" rtlCol="0"/>
          <a:lstStyle>
            <a:lvl1pPr algn="l">
              <a:defRPr sz="1200">
                <a:latin typeface="원신한 Light" pitchFamily="50" charset="-127"/>
                <a:ea typeface="원신한 Light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386" y="7"/>
            <a:ext cx="2948464" cy="496730"/>
          </a:xfrm>
          <a:prstGeom prst="rect">
            <a:avLst/>
          </a:prstGeom>
        </p:spPr>
        <p:txBody>
          <a:bodyPr vert="horz" lIns="92034" tIns="46017" rIns="92034" bIns="46017" rtlCol="0"/>
          <a:lstStyle>
            <a:lvl1pPr algn="r">
              <a:defRPr sz="1200">
                <a:latin typeface="원신한 Light" pitchFamily="50" charset="-127"/>
                <a:ea typeface="원신한 Light" pitchFamily="50" charset="-127"/>
              </a:defRPr>
            </a:lvl1pPr>
          </a:lstStyle>
          <a:p>
            <a:fld id="{BD58C4F5-0DD7-45AE-B721-D9AEB22F70D7}" type="datetimeFigureOut">
              <a:rPr lang="ko-KR" altLang="en-US" smtClean="0"/>
              <a:pPr/>
              <a:t>2025-07-02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5975" y="746125"/>
            <a:ext cx="2630488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34" tIns="46017" rIns="92034" bIns="4601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30" y="4719725"/>
            <a:ext cx="5442586" cy="4470559"/>
          </a:xfrm>
          <a:prstGeom prst="rect">
            <a:avLst/>
          </a:prstGeom>
        </p:spPr>
        <p:txBody>
          <a:bodyPr vert="horz" lIns="92034" tIns="46017" rIns="92034" bIns="46017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6253"/>
            <a:ext cx="2948464" cy="496730"/>
          </a:xfrm>
          <a:prstGeom prst="rect">
            <a:avLst/>
          </a:prstGeom>
        </p:spPr>
        <p:txBody>
          <a:bodyPr vert="horz" lIns="92034" tIns="46017" rIns="92034" bIns="46017" rtlCol="0" anchor="b"/>
          <a:lstStyle>
            <a:lvl1pPr algn="l">
              <a:defRPr sz="1200">
                <a:latin typeface="원신한 Light" pitchFamily="50" charset="-127"/>
                <a:ea typeface="원신한 Light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386" y="9436253"/>
            <a:ext cx="2948464" cy="496730"/>
          </a:xfrm>
          <a:prstGeom prst="rect">
            <a:avLst/>
          </a:prstGeom>
        </p:spPr>
        <p:txBody>
          <a:bodyPr vert="horz" lIns="92034" tIns="46017" rIns="92034" bIns="46017" rtlCol="0" anchor="b"/>
          <a:lstStyle>
            <a:lvl1pPr algn="r">
              <a:defRPr sz="1200">
                <a:latin typeface="원신한 Light" pitchFamily="50" charset="-127"/>
                <a:ea typeface="원신한 Light" pitchFamily="50" charset="-127"/>
              </a:defRPr>
            </a:lvl1pPr>
          </a:lstStyle>
          <a:p>
            <a:fld id="{BDB89C91-5523-40CF-BE2D-4D2E3C5F52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511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원신한 Light" pitchFamily="50" charset="-127"/>
        <a:ea typeface="원신한 Light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원신한 Light" pitchFamily="50" charset="-127"/>
        <a:ea typeface="원신한 Light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원신한 Light" pitchFamily="50" charset="-127"/>
        <a:ea typeface="원신한 Light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원신한 Light" pitchFamily="50" charset="-127"/>
        <a:ea typeface="원신한 Light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원신한 Light" pitchFamily="50" charset="-127"/>
        <a:ea typeface="원신한 Light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B89C91-5523-40CF-BE2D-4D2E3C5F52D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098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25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1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gif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23" Type="http://schemas.openxmlformats.org/officeDocument/2006/relationships/image" Target="../media/image21.gif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8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465487" y="1344532"/>
            <a:ext cx="4320481" cy="652820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rgbClr val="282781"/>
                </a:solidFill>
                <a:latin typeface="원신한 Medium" pitchFamily="50" charset="-127"/>
                <a:ea typeface="원신한 Medium" pitchFamily="50" charset="-127"/>
              </a:rPr>
              <a:t>퇴직금</a:t>
            </a:r>
            <a:r>
              <a:rPr lang="ko-KR" altLang="en-US" sz="1100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  <a:t>을 </a:t>
            </a:r>
            <a:r>
              <a:rPr lang="ko-KR" altLang="en-US" dirty="0">
                <a:solidFill>
                  <a:srgbClr val="282781"/>
                </a:solidFill>
                <a:latin typeface="원신한 Medium" pitchFamily="50" charset="-127"/>
                <a:ea typeface="원신한 Medium" pitchFamily="50" charset="-127"/>
              </a:rPr>
              <a:t>외부금융기관</a:t>
            </a:r>
            <a:r>
              <a:rPr lang="ko-KR" altLang="en-US" sz="1100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  <a:t>에 적립하여 운용하다가</a:t>
            </a:r>
            <a:br>
              <a:rPr lang="en-US" altLang="ko-KR" b="1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</a:br>
            <a:r>
              <a:rPr lang="ko-KR" altLang="en-US" dirty="0">
                <a:solidFill>
                  <a:srgbClr val="282781"/>
                </a:solidFill>
                <a:latin typeface="원신한 Medium" pitchFamily="50" charset="-127"/>
                <a:ea typeface="원신한 Medium" pitchFamily="50" charset="-127"/>
              </a:rPr>
              <a:t>퇴직할</a:t>
            </a:r>
            <a:r>
              <a:rPr lang="ko-KR" altLang="en-US" sz="1100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  <a:t> 때 </a:t>
            </a:r>
            <a:r>
              <a:rPr lang="ko-KR" altLang="en-US" dirty="0">
                <a:solidFill>
                  <a:srgbClr val="282781"/>
                </a:solidFill>
                <a:latin typeface="원신한 Medium" pitchFamily="50" charset="-127"/>
                <a:ea typeface="원신한 Medium" pitchFamily="50" charset="-127"/>
              </a:rPr>
              <a:t>연금</a:t>
            </a:r>
            <a:r>
              <a:rPr lang="ko-KR" altLang="en-US" sz="1100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  <a:t> 또는 </a:t>
            </a:r>
            <a:r>
              <a:rPr lang="ko-KR" altLang="en-US" dirty="0">
                <a:solidFill>
                  <a:srgbClr val="282781"/>
                </a:solidFill>
                <a:latin typeface="원신한 Medium" pitchFamily="50" charset="-127"/>
                <a:ea typeface="원신한 Medium" pitchFamily="50" charset="-127"/>
              </a:rPr>
              <a:t>일시금</a:t>
            </a:r>
            <a:r>
              <a:rPr lang="ko-KR" altLang="en-US" sz="1100" dirty="0">
                <a:solidFill>
                  <a:srgbClr val="282781"/>
                </a:solidFill>
                <a:latin typeface="원신한 Light" pitchFamily="50" charset="-127"/>
                <a:ea typeface="원신한 Light" pitchFamily="50" charset="-127"/>
              </a:rPr>
              <a:t>으로 받는 것 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116336" y="576000"/>
            <a:ext cx="5328591" cy="42153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sz="30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표준형</a:t>
            </a:r>
            <a:r>
              <a:rPr lang="en-US" altLang="ko-KR" sz="30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DC </a:t>
            </a:r>
            <a:r>
              <a:rPr lang="ko-KR" altLang="en-US" sz="30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퇴직연금제도 안내</a:t>
            </a:r>
          </a:p>
        </p:txBody>
      </p:sp>
      <p:sp>
        <p:nvSpPr>
          <p:cNvPr id="162" name="직사각형 161"/>
          <p:cNvSpPr/>
          <p:nvPr/>
        </p:nvSpPr>
        <p:spPr>
          <a:xfrm>
            <a:off x="468263" y="1344532"/>
            <a:ext cx="1800275" cy="2350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퇴직연금 제도란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?</a:t>
            </a:r>
            <a:endParaRPr lang="ko-KR" altLang="en-US" dirty="0">
              <a:ln w="3175">
                <a:solidFill>
                  <a:srgbClr val="0070C0">
                    <a:alpha val="0"/>
                  </a:srgbClr>
                </a:solidFill>
              </a:ln>
              <a:solidFill>
                <a:srgbClr val="282781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cxnSp>
        <p:nvCxnSpPr>
          <p:cNvPr id="165" name="직선 연결선 164"/>
          <p:cNvCxnSpPr/>
          <p:nvPr/>
        </p:nvCxnSpPr>
        <p:spPr>
          <a:xfrm>
            <a:off x="2465487" y="2058606"/>
            <a:ext cx="4579845" cy="0"/>
          </a:xfrm>
          <a:prstGeom prst="line">
            <a:avLst/>
          </a:prstGeom>
          <a:ln w="6350">
            <a:solidFill>
              <a:srgbClr val="282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/>
          <p:cNvSpPr/>
          <p:nvPr/>
        </p:nvSpPr>
        <p:spPr>
          <a:xfrm>
            <a:off x="2465487" y="2141844"/>
            <a:ext cx="4627464" cy="7850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12000"/>
              </a:lnSpc>
            </a:pP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하나의 표준화된 규약으로 여러 사업장이 동일한 제도에 참여할 수 있게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 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하는 복수사용자 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DC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제도를 말하며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, 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업체는 </a:t>
            </a:r>
            <a:r>
              <a:rPr lang="ko-KR" altLang="en-US" sz="1200" spc="-60" dirty="0"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수수료 부담이</a:t>
            </a:r>
            <a:r>
              <a:rPr lang="en-US" altLang="ko-KR" sz="1200" spc="-60" dirty="0"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 </a:t>
            </a:r>
            <a:r>
              <a:rPr lang="ko-KR" altLang="en-US" sz="1200" spc="-60" dirty="0"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획기적으로 줄어들고</a:t>
            </a:r>
            <a:r>
              <a:rPr lang="en-US" altLang="ko-KR" sz="1200" spc="-60" dirty="0">
                <a:solidFill>
                  <a:srgbClr val="CC0F19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,  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근로자는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 </a:t>
            </a:r>
            <a:r>
              <a:rPr lang="en-US" altLang="ko-KR" sz="1200" spc="-60" dirty="0"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TDF</a:t>
            </a:r>
            <a:r>
              <a:rPr lang="ko-KR" altLang="en-US" sz="1200" spc="-60" dirty="0"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중심 포트폴리오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를 통해 적립금을 효율적으로 관리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, </a:t>
            </a:r>
            <a:r>
              <a:rPr lang="ko-KR" altLang="en-US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운용하게 하여 수익률 관리에 편리함</a:t>
            </a:r>
            <a:r>
              <a:rPr lang="en-US" altLang="ko-KR" sz="1200" spc="-60" dirty="0">
                <a:solidFill>
                  <a:srgbClr val="282781"/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.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468263" y="2058606"/>
            <a:ext cx="1800275" cy="0"/>
          </a:xfrm>
          <a:prstGeom prst="line">
            <a:avLst/>
          </a:prstGeom>
          <a:ln w="12700">
            <a:solidFill>
              <a:srgbClr val="282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68263" y="2141844"/>
            <a:ext cx="1800275" cy="2350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표준형 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DC</a:t>
            </a: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란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?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469230" y="4289334"/>
            <a:ext cx="1511201" cy="324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일반형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DC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원신한 Medium" panose="020B0603000000000000" pitchFamily="50" charset="-127"/>
              <a:ea typeface="원신한 Medium" panose="020B0603000000000000" pitchFamily="50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4140672" y="4289334"/>
            <a:ext cx="1282526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표준형 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CC0F19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DC       </a:t>
            </a:r>
          </a:p>
        </p:txBody>
      </p:sp>
      <p:graphicFrame>
        <p:nvGraphicFramePr>
          <p:cNvPr id="124" name="표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19532"/>
              </p:ext>
            </p:extLst>
          </p:nvPr>
        </p:nvGraphicFramePr>
        <p:xfrm>
          <a:off x="469231" y="4621287"/>
          <a:ext cx="3095377" cy="139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43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금액기준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합계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운용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자산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43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억 미만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itchFamily="50" charset="-127"/>
                          <a:ea typeface="원신한 Medium" pitchFamily="50" charset="-127"/>
                        </a:rPr>
                        <a:t>0.68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itchFamily="50" charset="-127"/>
                        <a:ea typeface="원신한 Medium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0.38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Light" pitchFamily="50" charset="-127"/>
                        <a:ea typeface="원신한 Light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0.30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Light" pitchFamily="50" charset="-127"/>
                        <a:ea typeface="원신한 Light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43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억</a:t>
                      </a:r>
                      <a:r>
                        <a:rPr lang="ko-KR" altLang="en-US" sz="1000" b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 이상 </a:t>
                      </a:r>
                      <a:r>
                        <a:rPr lang="en-US" altLang="ko-KR" sz="1000" b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~ 30</a:t>
                      </a:r>
                      <a:r>
                        <a:rPr lang="ko-KR" altLang="en-US" sz="1000" b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억 미만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B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itchFamily="50" charset="-127"/>
                          <a:ea typeface="원신한 Medium" pitchFamily="50" charset="-127"/>
                        </a:rPr>
                        <a:t>0.63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itchFamily="50" charset="-127"/>
                        <a:ea typeface="원신한 Medium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itchFamily="50" charset="-127"/>
                          <a:ea typeface="원신한 Medium" pitchFamily="50" charset="-127"/>
                          <a:cs typeface="+mn-cs"/>
                        </a:rPr>
                        <a:t>0.33</a:t>
                      </a:r>
                      <a:endParaRPr lang="ko-KR" altLang="en-US" sz="10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itchFamily="50" charset="-127"/>
                        <a:ea typeface="원신한 Medium" pitchFamily="50" charset="-127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B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Light" pitchFamily="50" charset="-127"/>
                        <a:ea typeface="원신한 Light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30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억</a:t>
                      </a:r>
                      <a:r>
                        <a:rPr lang="ko-KR" altLang="en-US" sz="10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 이상 </a:t>
                      </a:r>
                      <a:r>
                        <a:rPr lang="en-US" altLang="ko-KR" sz="10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~ 50</a:t>
                      </a:r>
                      <a:r>
                        <a:rPr lang="ko-KR" altLang="en-US" sz="10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억 미만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Light" pitchFamily="50" charset="-127"/>
                        <a:ea typeface="원신한 Light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itchFamily="50" charset="-127"/>
                          <a:ea typeface="원신한 Medium" pitchFamily="50" charset="-127"/>
                        </a:rPr>
                        <a:t>0.63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itchFamily="50" charset="-127"/>
                        <a:ea typeface="원신한 Medium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Light" pitchFamily="50" charset="-127"/>
                          <a:ea typeface="원신한 Light" pitchFamily="50" charset="-127"/>
                        </a:rPr>
                        <a:t>0.33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Light" pitchFamily="50" charset="-127"/>
                        <a:ea typeface="원신한 Light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5" name="직선 연결선 124"/>
          <p:cNvCxnSpPr/>
          <p:nvPr/>
        </p:nvCxnSpPr>
        <p:spPr>
          <a:xfrm>
            <a:off x="468263" y="3142918"/>
            <a:ext cx="6624736" cy="0"/>
          </a:xfrm>
          <a:prstGeom prst="line">
            <a:avLst/>
          </a:prstGeom>
          <a:ln w="6350">
            <a:solidFill>
              <a:srgbClr val="282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 flipH="1">
            <a:off x="1929197" y="3779255"/>
            <a:ext cx="2503295" cy="360000"/>
          </a:xfrm>
          <a:prstGeom prst="homePlate">
            <a:avLst>
              <a:gd name="adj" fmla="val 35889"/>
            </a:avLst>
          </a:prstGeom>
          <a:gradFill flip="none" rotWithShape="1">
            <a:gsLst>
              <a:gs pos="0">
                <a:srgbClr val="282781"/>
              </a:gs>
              <a:gs pos="100000">
                <a:srgbClr val="0055B8"/>
              </a:gs>
            </a:gsLst>
            <a:lin ang="0" scaled="0"/>
            <a:tileRect/>
          </a:gradFill>
          <a:ln w="3175">
            <a:noFill/>
          </a:ln>
          <a:effectLst>
            <a:outerShdw blurRad="38100" dist="12700" dir="5400000" algn="ctr">
              <a:srgbClr val="98989A"/>
            </a:outerShdw>
          </a:effectLst>
        </p:spPr>
        <p:txBody>
          <a:bodyPr wrap="none" lIns="126000" tIns="46800" rIns="90000" bIns="46800" anchor="ctr">
            <a:noAutofit/>
          </a:bodyPr>
          <a:lstStyle>
            <a:defPPr>
              <a:defRPr lang="ko-KR"/>
            </a:defPPr>
            <a:lvl1pPr>
              <a:lnSpc>
                <a:spcPct val="105000"/>
              </a:lnSpc>
              <a:defRPr sz="1600">
                <a:solidFill>
                  <a:schemeClr val="bg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defRPr>
            </a:lvl1pPr>
          </a:lstStyle>
          <a:p>
            <a:r>
              <a:rPr lang="ko-KR" altLang="en-US" dirty="0"/>
              <a:t>수수료 대폭 감소</a:t>
            </a:r>
          </a:p>
        </p:txBody>
      </p:sp>
      <p:graphicFrame>
        <p:nvGraphicFramePr>
          <p:cNvPr id="129" name="표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61488"/>
              </p:ext>
            </p:extLst>
          </p:nvPr>
        </p:nvGraphicFramePr>
        <p:xfrm>
          <a:off x="4140672" y="4621288"/>
          <a:ext cx="2952281" cy="1673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51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rgbClr val="282781"/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금액 기준</a:t>
                      </a:r>
                    </a:p>
                  </a:txBody>
                  <a:tcPr marL="43200" marR="43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합계</a:t>
                      </a:r>
                    </a:p>
                  </a:txBody>
                  <a:tcPr marL="43200" marR="43200" marT="36000" marB="36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78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rgbClr val="282781"/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운용</a:t>
                      </a:r>
                    </a:p>
                  </a:txBody>
                  <a:tcPr marL="43200" marR="43200" marT="36000" marB="36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kern="1200" dirty="0">
                          <a:solidFill>
                            <a:srgbClr val="282781"/>
                          </a:solidFill>
                          <a:latin typeface="원신한 Light" pitchFamily="50" charset="-127"/>
                          <a:ea typeface="원신한 Light" pitchFamily="50" charset="-127"/>
                          <a:cs typeface="+mn-cs"/>
                        </a:rPr>
                        <a:t>자산</a:t>
                      </a:r>
                    </a:p>
                  </a:txBody>
                  <a:tcPr marL="43200" marR="432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2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2000"/>
                        </a:lnSpc>
                      </a:pPr>
                      <a:r>
                        <a:rPr lang="ko-KR" altLang="en-US" sz="1200" b="0" kern="1200" dirty="0">
                          <a:solidFill>
                            <a:srgbClr val="282781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금액 관계 없이 </a:t>
                      </a:r>
                      <a:endParaRPr lang="en-US" altLang="ko-KR" sz="1200" b="0" kern="1200" dirty="0">
                        <a:solidFill>
                          <a:srgbClr val="282781"/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2000"/>
                        </a:lnSpc>
                      </a:pPr>
                      <a:r>
                        <a:rPr lang="ko-KR" altLang="en-US" sz="1200" b="0" kern="1200" dirty="0">
                          <a:solidFill>
                            <a:srgbClr val="282781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동일 적용</a:t>
                      </a:r>
                    </a:p>
                  </a:txBody>
                  <a:tcPr marL="43200" marR="43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56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b="0" kern="1200" dirty="0">
                          <a:solidFill>
                            <a:srgbClr val="282781"/>
                          </a:solidFill>
                          <a:latin typeface="원신한 Bold" panose="020B0803000000000000" pitchFamily="50" charset="-127"/>
                          <a:ea typeface="원신한 Bold" panose="020B0803000000000000" pitchFamily="50" charset="-127"/>
                          <a:cs typeface="+mn-cs"/>
                        </a:rPr>
                        <a:t>0.35</a:t>
                      </a:r>
                      <a:endParaRPr lang="ko-KR" altLang="en-US" sz="1100" b="0" kern="1200" dirty="0">
                        <a:solidFill>
                          <a:srgbClr val="282781"/>
                        </a:solidFill>
                        <a:latin typeface="원신한 Bold" panose="020B0803000000000000" pitchFamily="50" charset="-127"/>
                        <a:ea typeface="원신한 Bold" panose="020B0803000000000000" pitchFamily="50" charset="-127"/>
                        <a:cs typeface="+mn-cs"/>
                      </a:endParaRPr>
                    </a:p>
                  </a:txBody>
                  <a:tcPr marL="43200" marR="43200" marT="36000" marB="36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0.10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</a:endParaRPr>
                    </a:p>
                  </a:txBody>
                  <a:tcPr marL="43200" marR="43200" marT="36000" marB="36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</a:rPr>
                        <a:t>0.25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</a:endParaRPr>
                    </a:p>
                  </a:txBody>
                  <a:tcPr marL="43200" marR="432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99">
                <a:tc gridSpan="4">
                  <a:txBody>
                    <a:bodyPr/>
                    <a:lstStyle/>
                    <a:p>
                      <a:pPr algn="l" latinLnBrk="1">
                        <a:lnSpc>
                          <a:spcPct val="112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※ 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장기계약 </a:t>
                      </a:r>
                      <a:r>
                        <a:rPr lang="ko-KR" altLang="en-US" sz="120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할인률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 </a:t>
                      </a:r>
                    </a:p>
                    <a:p>
                      <a:pPr algn="l" latinLnBrk="1">
                        <a:lnSpc>
                          <a:spcPct val="112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 - 2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차년도 이후 </a:t>
                      </a: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10%, 3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차년도 이후 </a:t>
                      </a: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12%, </a:t>
                      </a:r>
                    </a:p>
                    <a:p>
                      <a:pPr algn="l" latinLnBrk="1">
                        <a:lnSpc>
                          <a:spcPct val="112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   4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차년도 </a:t>
                      </a: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15% </a:t>
                      </a:r>
                      <a:r>
                        <a:rPr lang="ko-KR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원신한 Light" panose="020B0303000000000000" pitchFamily="50" charset="-127"/>
                          <a:ea typeface="원신한 Light" panose="020B0303000000000000" pitchFamily="50" charset="-127"/>
                          <a:cs typeface="+mn-cs"/>
                        </a:rPr>
                        <a:t>적용하여  </a:t>
                      </a:r>
                      <a:r>
                        <a:rPr lang="en-US" altLang="ko-KR" sz="1200" kern="1200" dirty="0">
                          <a:solidFill>
                            <a:srgbClr val="C00000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0.29%</a:t>
                      </a:r>
                      <a:r>
                        <a:rPr lang="ko-KR" altLang="en-US" sz="1200" kern="1200" dirty="0">
                          <a:solidFill>
                            <a:srgbClr val="C00000"/>
                          </a:solidFill>
                          <a:latin typeface="원신한 Medium" panose="020B0603000000000000" pitchFamily="50" charset="-127"/>
                          <a:ea typeface="원신한 Medium" panose="020B0603000000000000" pitchFamily="50" charset="-127"/>
                          <a:cs typeface="+mn-cs"/>
                        </a:rPr>
                        <a:t>까지 가능</a:t>
                      </a:r>
                      <a:endParaRPr lang="en-US" altLang="ko-KR" sz="1200" kern="1200" dirty="0">
                        <a:solidFill>
                          <a:srgbClr val="C00000"/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  <a:cs typeface="+mn-cs"/>
                      </a:endParaRPr>
                    </a:p>
                  </a:txBody>
                  <a:tcPr marL="43200" marR="432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1043056" rtl="0" eaLnBrk="1" latinLnBrk="1" hangingPunct="1">
                        <a:lnSpc>
                          <a:spcPct val="100000"/>
                        </a:lnSpc>
                      </a:pPr>
                      <a:endParaRPr lang="ko-KR" altLang="en-US" sz="1100" b="0" kern="1200" dirty="0">
                        <a:solidFill>
                          <a:srgbClr val="282781"/>
                        </a:solidFill>
                        <a:latin typeface="원신한 Bold" panose="020B0803000000000000" pitchFamily="50" charset="-127"/>
                        <a:ea typeface="원신한 Bold" panose="020B0803000000000000" pitchFamily="50" charset="-127"/>
                        <a:cs typeface="+mn-cs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rgbClr val="2827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원신한 Medium" panose="020B0603000000000000" pitchFamily="50" charset="-127"/>
                        <a:ea typeface="원신한 Medium" panose="020B0603000000000000" pitchFamily="50" charset="-127"/>
                      </a:endParaRPr>
                    </a:p>
                  </a:txBody>
                  <a:tcPr marT="18000" marB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8" name="직사각형 197"/>
          <p:cNvSpPr/>
          <p:nvPr/>
        </p:nvSpPr>
        <p:spPr>
          <a:xfrm>
            <a:off x="468264" y="6867869"/>
            <a:ext cx="5658568" cy="423047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rgbClr val="002060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다양한 상품을 언제나 풍부하게 제공가능</a:t>
            </a:r>
            <a:endParaRPr lang="en-US" altLang="ko-KR" sz="1200" dirty="0">
              <a:solidFill>
                <a:srgbClr val="002060"/>
              </a:solidFill>
              <a:latin typeface="원신한 Medium" panose="020B0603000000000000" pitchFamily="50" charset="-127"/>
              <a:ea typeface="원신한 Medium" panose="020B0603000000000000" pitchFamily="50" charset="-127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-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언제든지 상품 라인업이 추가되는 오픈 플랫폼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운용중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원신한 Light" panose="020B0303000000000000" pitchFamily="50" charset="-127"/>
              <a:ea typeface="원신한 Light" panose="020B0303000000000000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849438" y="3779255"/>
            <a:ext cx="1048980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회사 측면</a:t>
            </a:r>
            <a:endParaRPr lang="en-US" altLang="ko-KR" dirty="0">
              <a:ln w="3175">
                <a:solidFill>
                  <a:srgbClr val="0070C0">
                    <a:alpha val="0"/>
                  </a:srgbClr>
                </a:solidFill>
              </a:ln>
              <a:solidFill>
                <a:srgbClr val="282781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849438" y="6332418"/>
            <a:ext cx="1258762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근로자 측면</a:t>
            </a:r>
            <a:endParaRPr lang="en-US" altLang="ko-KR" dirty="0">
              <a:ln w="3175">
                <a:solidFill>
                  <a:srgbClr val="0070C0">
                    <a:alpha val="0"/>
                  </a:srgbClr>
                </a:solidFill>
              </a:ln>
              <a:solidFill>
                <a:srgbClr val="282781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468313" y="3142918"/>
            <a:ext cx="4393247" cy="360000"/>
          </a:xfrm>
          <a:prstGeom prst="rect">
            <a:avLst/>
          </a:prstGeom>
          <a:solidFill>
            <a:srgbClr val="282781"/>
          </a:solidFill>
          <a:ln w="6350">
            <a:solidFill>
              <a:schemeClr val="tx1"/>
            </a:solidFill>
          </a:ln>
        </p:spPr>
        <p:txBody>
          <a:bodyPr vert="horz" lIns="126000" tIns="0" rIns="0" bIns="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표준형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DC</a:t>
            </a: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로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 </a:t>
            </a:r>
            <a:r>
              <a:rPr lang="ko-KR" altLang="en-US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바꾸면 어떤 것이 좋은가요</a:t>
            </a:r>
            <a:r>
              <a:rPr lang="en-US" altLang="ko-KR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원신한 Bold" panose="020B0803000000000000" pitchFamily="50" charset="-127"/>
                <a:ea typeface="원신한 Bold" panose="020B0803000000000000" pitchFamily="50" charset="-127"/>
              </a:rPr>
              <a:t>?</a:t>
            </a:r>
            <a:endParaRPr lang="ko-KR" altLang="en-US" dirty="0">
              <a:ln w="3175">
                <a:solidFill>
                  <a:srgbClr val="0070C0">
                    <a:alpha val="0"/>
                  </a:srgbClr>
                </a:solidFill>
              </a:ln>
              <a:solidFill>
                <a:schemeClr val="bg1"/>
              </a:solidFill>
              <a:latin typeface="원신한 Bold" panose="020B0803000000000000" pitchFamily="50" charset="-127"/>
              <a:ea typeface="원신한 Bold" panose="020B0803000000000000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6465488" y="4406765"/>
            <a:ext cx="627464" cy="16846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(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단위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: %)         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2937144" y="4406765"/>
            <a:ext cx="627464" cy="16846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(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단위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원신한 Light" panose="020B0303000000000000" pitchFamily="50" charset="-127"/>
                <a:ea typeface="원신한 Light" panose="020B0303000000000000" pitchFamily="50" charset="-127"/>
              </a:rPr>
              <a:t>: %)         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32999" y="10243244"/>
            <a:ext cx="6660000" cy="324000"/>
          </a:xfrm>
          <a:prstGeom prst="rect">
            <a:avLst/>
          </a:prstGeom>
          <a:ln w="6350">
            <a:solidFill>
              <a:srgbClr val="98989A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ko-KR" altLang="en-US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신한은행  </a:t>
            </a:r>
            <a:r>
              <a:rPr lang="en-US" altLang="ko-KR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OO</a:t>
            </a:r>
            <a:r>
              <a:rPr lang="ko-KR" altLang="en-US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금융센터   수석   </a:t>
            </a:r>
            <a:r>
              <a:rPr lang="en-US" altLang="ko-KR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OOO</a:t>
            </a:r>
            <a:r>
              <a:rPr lang="ko-KR" altLang="en-US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                      </a:t>
            </a:r>
            <a:r>
              <a:rPr lang="en-US" altLang="ko-KR" sz="1100" dirty="0">
                <a:ln w="3175">
                  <a:solidFill>
                    <a:srgbClr val="0070C0">
                      <a:alpha val="0"/>
                    </a:srgbClr>
                  </a:solidFill>
                </a:ln>
                <a:solidFill>
                  <a:srgbClr val="282781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rPr>
              <a:t>000- 000 - 0000</a:t>
            </a:r>
            <a:endParaRPr lang="en-US" altLang="ko-KR" sz="1200" dirty="0">
              <a:ln w="3175">
                <a:solidFill>
                  <a:srgbClr val="0070C0">
                    <a:alpha val="0"/>
                  </a:srgbClr>
                </a:solidFill>
              </a:ln>
              <a:solidFill>
                <a:srgbClr val="282781"/>
              </a:solidFill>
              <a:latin typeface="원신한 Medium" panose="020B0603000000000000" pitchFamily="50" charset="-127"/>
              <a:ea typeface="원신한 Medium" panose="020B0603000000000000" pitchFamily="50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468314" y="3787975"/>
            <a:ext cx="268262" cy="342561"/>
            <a:chOff x="8475663" y="385763"/>
            <a:chExt cx="544513" cy="695325"/>
          </a:xfrm>
        </p:grpSpPr>
        <p:sp>
          <p:nvSpPr>
            <p:cNvPr id="77" name="Rectangle 180"/>
            <p:cNvSpPr>
              <a:spLocks noChangeArrowheads="1"/>
            </p:cNvSpPr>
            <p:nvPr/>
          </p:nvSpPr>
          <p:spPr bwMode="auto">
            <a:xfrm>
              <a:off x="8715376" y="498476"/>
              <a:ext cx="63500" cy="63500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78" name="Rectangle 181"/>
            <p:cNvSpPr>
              <a:spLocks noChangeArrowheads="1"/>
            </p:cNvSpPr>
            <p:nvPr/>
          </p:nvSpPr>
          <p:spPr bwMode="auto">
            <a:xfrm>
              <a:off x="8836026" y="498476"/>
              <a:ext cx="63500" cy="63500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79" name="Rectangle 182"/>
            <p:cNvSpPr>
              <a:spLocks noChangeArrowheads="1"/>
            </p:cNvSpPr>
            <p:nvPr/>
          </p:nvSpPr>
          <p:spPr bwMode="auto">
            <a:xfrm>
              <a:off x="8594726" y="498476"/>
              <a:ext cx="60325" cy="63500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80" name="Rectangle 183"/>
            <p:cNvSpPr>
              <a:spLocks noChangeArrowheads="1"/>
            </p:cNvSpPr>
            <p:nvPr/>
          </p:nvSpPr>
          <p:spPr bwMode="auto">
            <a:xfrm>
              <a:off x="8715376" y="625476"/>
              <a:ext cx="63500" cy="60325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81" name="Rectangle 184"/>
            <p:cNvSpPr>
              <a:spLocks noChangeArrowheads="1"/>
            </p:cNvSpPr>
            <p:nvPr/>
          </p:nvSpPr>
          <p:spPr bwMode="auto">
            <a:xfrm>
              <a:off x="8836026" y="625476"/>
              <a:ext cx="63500" cy="60325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82" name="Rectangle 185"/>
            <p:cNvSpPr>
              <a:spLocks noChangeArrowheads="1"/>
            </p:cNvSpPr>
            <p:nvPr/>
          </p:nvSpPr>
          <p:spPr bwMode="auto">
            <a:xfrm>
              <a:off x="8836026" y="750888"/>
              <a:ext cx="63500" cy="63500"/>
            </a:xfrm>
            <a:prstGeom prst="rect">
              <a:avLst/>
            </a:pr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83" name="Freeform 186"/>
            <p:cNvSpPr>
              <a:spLocks noEditPoints="1"/>
            </p:cNvSpPr>
            <p:nvPr/>
          </p:nvSpPr>
          <p:spPr bwMode="auto">
            <a:xfrm>
              <a:off x="8475663" y="385763"/>
              <a:ext cx="544513" cy="695325"/>
            </a:xfrm>
            <a:custGeom>
              <a:avLst/>
              <a:gdLst>
                <a:gd name="T0" fmla="*/ 343 w 343"/>
                <a:gd name="T1" fmla="*/ 0 h 438"/>
                <a:gd name="T2" fmla="*/ 0 w 343"/>
                <a:gd name="T3" fmla="*/ 0 h 438"/>
                <a:gd name="T4" fmla="*/ 0 w 343"/>
                <a:gd name="T5" fmla="*/ 424 h 438"/>
                <a:gd name="T6" fmla="*/ 0 w 343"/>
                <a:gd name="T7" fmla="*/ 424 h 438"/>
                <a:gd name="T8" fmla="*/ 0 w 343"/>
                <a:gd name="T9" fmla="*/ 438 h 438"/>
                <a:gd name="T10" fmla="*/ 262 w 343"/>
                <a:gd name="T11" fmla="*/ 438 h 438"/>
                <a:gd name="T12" fmla="*/ 343 w 343"/>
                <a:gd name="T13" fmla="*/ 409 h 438"/>
                <a:gd name="T14" fmla="*/ 343 w 343"/>
                <a:gd name="T15" fmla="*/ 0 h 438"/>
                <a:gd name="T16" fmla="*/ 33 w 343"/>
                <a:gd name="T17" fmla="*/ 405 h 438"/>
                <a:gd name="T18" fmla="*/ 33 w 343"/>
                <a:gd name="T19" fmla="*/ 33 h 438"/>
                <a:gd name="T20" fmla="*/ 309 w 343"/>
                <a:gd name="T21" fmla="*/ 33 h 438"/>
                <a:gd name="T22" fmla="*/ 309 w 343"/>
                <a:gd name="T23" fmla="*/ 405 h 438"/>
                <a:gd name="T24" fmla="*/ 33 w 343"/>
                <a:gd name="T25" fmla="*/ 405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3" h="438">
                  <a:moveTo>
                    <a:pt x="343" y="0"/>
                  </a:moveTo>
                  <a:lnTo>
                    <a:pt x="0" y="0"/>
                  </a:lnTo>
                  <a:lnTo>
                    <a:pt x="0" y="424"/>
                  </a:lnTo>
                  <a:lnTo>
                    <a:pt x="0" y="424"/>
                  </a:lnTo>
                  <a:lnTo>
                    <a:pt x="0" y="438"/>
                  </a:lnTo>
                  <a:lnTo>
                    <a:pt x="262" y="438"/>
                  </a:lnTo>
                  <a:lnTo>
                    <a:pt x="343" y="409"/>
                  </a:lnTo>
                  <a:lnTo>
                    <a:pt x="343" y="0"/>
                  </a:lnTo>
                  <a:close/>
                  <a:moveTo>
                    <a:pt x="33" y="405"/>
                  </a:moveTo>
                  <a:lnTo>
                    <a:pt x="33" y="33"/>
                  </a:lnTo>
                  <a:lnTo>
                    <a:pt x="309" y="33"/>
                  </a:lnTo>
                  <a:lnTo>
                    <a:pt x="309" y="405"/>
                  </a:lnTo>
                  <a:lnTo>
                    <a:pt x="33" y="405"/>
                  </a:lnTo>
                  <a:close/>
                </a:path>
              </a:pathLst>
            </a:cu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468263" y="6322442"/>
            <a:ext cx="258210" cy="376731"/>
            <a:chOff x="10163919" y="2455854"/>
            <a:chExt cx="484188" cy="706437"/>
          </a:xfrm>
        </p:grpSpPr>
        <p:sp>
          <p:nvSpPr>
            <p:cNvPr id="92" name="Freeform 34"/>
            <p:cNvSpPr>
              <a:spLocks noEditPoints="1"/>
            </p:cNvSpPr>
            <p:nvPr/>
          </p:nvSpPr>
          <p:spPr bwMode="auto">
            <a:xfrm>
              <a:off x="10230594" y="2455854"/>
              <a:ext cx="346075" cy="341313"/>
            </a:xfrm>
            <a:custGeom>
              <a:avLst/>
              <a:gdLst>
                <a:gd name="T0" fmla="*/ 46 w 92"/>
                <a:gd name="T1" fmla="*/ 91 h 91"/>
                <a:gd name="T2" fmla="*/ 92 w 92"/>
                <a:gd name="T3" fmla="*/ 45 h 91"/>
                <a:gd name="T4" fmla="*/ 46 w 92"/>
                <a:gd name="T5" fmla="*/ 0 h 91"/>
                <a:gd name="T6" fmla="*/ 0 w 92"/>
                <a:gd name="T7" fmla="*/ 45 h 91"/>
                <a:gd name="T8" fmla="*/ 46 w 92"/>
                <a:gd name="T9" fmla="*/ 91 h 91"/>
                <a:gd name="T10" fmla="*/ 46 w 92"/>
                <a:gd name="T11" fmla="*/ 14 h 91"/>
                <a:gd name="T12" fmla="*/ 78 w 92"/>
                <a:gd name="T13" fmla="*/ 45 h 91"/>
                <a:gd name="T14" fmla="*/ 46 w 92"/>
                <a:gd name="T15" fmla="*/ 77 h 91"/>
                <a:gd name="T16" fmla="*/ 14 w 92"/>
                <a:gd name="T17" fmla="*/ 45 h 91"/>
                <a:gd name="T18" fmla="*/ 46 w 92"/>
                <a:gd name="T19" fmla="*/ 1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" h="91">
                  <a:moveTo>
                    <a:pt x="46" y="91"/>
                  </a:moveTo>
                  <a:cubicBezTo>
                    <a:pt x="71" y="91"/>
                    <a:pt x="92" y="71"/>
                    <a:pt x="92" y="45"/>
                  </a:cubicBezTo>
                  <a:cubicBezTo>
                    <a:pt x="92" y="20"/>
                    <a:pt x="71" y="0"/>
                    <a:pt x="46" y="0"/>
                  </a:cubicBezTo>
                  <a:cubicBezTo>
                    <a:pt x="21" y="0"/>
                    <a:pt x="0" y="20"/>
                    <a:pt x="0" y="45"/>
                  </a:cubicBezTo>
                  <a:cubicBezTo>
                    <a:pt x="0" y="71"/>
                    <a:pt x="21" y="91"/>
                    <a:pt x="46" y="91"/>
                  </a:cubicBezTo>
                  <a:close/>
                  <a:moveTo>
                    <a:pt x="46" y="14"/>
                  </a:moveTo>
                  <a:cubicBezTo>
                    <a:pt x="64" y="14"/>
                    <a:pt x="78" y="28"/>
                    <a:pt x="78" y="45"/>
                  </a:cubicBezTo>
                  <a:cubicBezTo>
                    <a:pt x="78" y="63"/>
                    <a:pt x="64" y="77"/>
                    <a:pt x="46" y="77"/>
                  </a:cubicBezTo>
                  <a:cubicBezTo>
                    <a:pt x="29" y="77"/>
                    <a:pt x="14" y="63"/>
                    <a:pt x="14" y="45"/>
                  </a:cubicBezTo>
                  <a:cubicBezTo>
                    <a:pt x="14" y="28"/>
                    <a:pt x="29" y="14"/>
                    <a:pt x="46" y="14"/>
                  </a:cubicBezTo>
                  <a:close/>
                </a:path>
              </a:pathLst>
            </a:cu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05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93" name="Freeform 35"/>
            <p:cNvSpPr>
              <a:spLocks noEditPoints="1"/>
            </p:cNvSpPr>
            <p:nvPr/>
          </p:nvSpPr>
          <p:spPr bwMode="auto">
            <a:xfrm>
              <a:off x="10163919" y="2851141"/>
              <a:ext cx="484188" cy="311150"/>
            </a:xfrm>
            <a:custGeom>
              <a:avLst/>
              <a:gdLst>
                <a:gd name="T0" fmla="*/ 95 w 129"/>
                <a:gd name="T1" fmla="*/ 0 h 83"/>
                <a:gd name="T2" fmla="*/ 33 w 129"/>
                <a:gd name="T3" fmla="*/ 0 h 83"/>
                <a:gd name="T4" fmla="*/ 0 w 129"/>
                <a:gd name="T5" fmla="*/ 33 h 83"/>
                <a:gd name="T6" fmla="*/ 0 w 129"/>
                <a:gd name="T7" fmla="*/ 80 h 83"/>
                <a:gd name="T8" fmla="*/ 14 w 129"/>
                <a:gd name="T9" fmla="*/ 75 h 83"/>
                <a:gd name="T10" fmla="*/ 14 w 129"/>
                <a:gd name="T11" fmla="*/ 33 h 83"/>
                <a:gd name="T12" fmla="*/ 33 w 129"/>
                <a:gd name="T13" fmla="*/ 14 h 83"/>
                <a:gd name="T14" fmla="*/ 45 w 129"/>
                <a:gd name="T15" fmla="*/ 14 h 83"/>
                <a:gd name="T16" fmla="*/ 51 w 129"/>
                <a:gd name="T17" fmla="*/ 26 h 83"/>
                <a:gd name="T18" fmla="*/ 43 w 129"/>
                <a:gd name="T19" fmla="*/ 72 h 83"/>
                <a:gd name="T20" fmla="*/ 64 w 129"/>
                <a:gd name="T21" fmla="*/ 83 h 83"/>
                <a:gd name="T22" fmla="*/ 86 w 129"/>
                <a:gd name="T23" fmla="*/ 72 h 83"/>
                <a:gd name="T24" fmla="*/ 78 w 129"/>
                <a:gd name="T25" fmla="*/ 26 h 83"/>
                <a:gd name="T26" fmla="*/ 83 w 129"/>
                <a:gd name="T27" fmla="*/ 14 h 83"/>
                <a:gd name="T28" fmla="*/ 95 w 129"/>
                <a:gd name="T29" fmla="*/ 14 h 83"/>
                <a:gd name="T30" fmla="*/ 115 w 129"/>
                <a:gd name="T31" fmla="*/ 33 h 83"/>
                <a:gd name="T32" fmla="*/ 115 w 129"/>
                <a:gd name="T33" fmla="*/ 80 h 83"/>
                <a:gd name="T34" fmla="*/ 129 w 129"/>
                <a:gd name="T35" fmla="*/ 75 h 83"/>
                <a:gd name="T36" fmla="*/ 129 w 129"/>
                <a:gd name="T37" fmla="*/ 33 h 83"/>
                <a:gd name="T38" fmla="*/ 95 w 129"/>
                <a:gd name="T39" fmla="*/ 0 h 83"/>
                <a:gd name="T40" fmla="*/ 70 w 129"/>
                <a:gd name="T41" fmla="*/ 14 h 83"/>
                <a:gd name="T42" fmla="*/ 68 w 129"/>
                <a:gd name="T43" fmla="*/ 20 h 83"/>
                <a:gd name="T44" fmla="*/ 61 w 129"/>
                <a:gd name="T45" fmla="*/ 20 h 83"/>
                <a:gd name="T46" fmla="*/ 58 w 129"/>
                <a:gd name="T47" fmla="*/ 14 h 83"/>
                <a:gd name="T48" fmla="*/ 70 w 129"/>
                <a:gd name="T49" fmla="*/ 14 h 83"/>
                <a:gd name="T50" fmla="*/ 64 w 129"/>
                <a:gd name="T51" fmla="*/ 69 h 83"/>
                <a:gd name="T52" fmla="*/ 56 w 129"/>
                <a:gd name="T53" fmla="*/ 65 h 83"/>
                <a:gd name="T54" fmla="*/ 62 w 129"/>
                <a:gd name="T55" fmla="*/ 32 h 83"/>
                <a:gd name="T56" fmla="*/ 66 w 129"/>
                <a:gd name="T57" fmla="*/ 32 h 83"/>
                <a:gd name="T58" fmla="*/ 72 w 129"/>
                <a:gd name="T59" fmla="*/ 65 h 83"/>
                <a:gd name="T60" fmla="*/ 64 w 129"/>
                <a:gd name="T61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9" h="83"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22"/>
                    <a:pt x="22" y="14"/>
                    <a:pt x="33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86" y="72"/>
                    <a:pt x="86" y="72"/>
                    <a:pt x="86" y="72"/>
                  </a:cubicBezTo>
                  <a:cubicBezTo>
                    <a:pt x="78" y="26"/>
                    <a:pt x="78" y="26"/>
                    <a:pt x="78" y="26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106" y="14"/>
                    <a:pt x="115" y="22"/>
                    <a:pt x="115" y="33"/>
                  </a:cubicBezTo>
                  <a:cubicBezTo>
                    <a:pt x="115" y="80"/>
                    <a:pt x="115" y="80"/>
                    <a:pt x="115" y="80"/>
                  </a:cubicBezTo>
                  <a:cubicBezTo>
                    <a:pt x="129" y="75"/>
                    <a:pt x="129" y="75"/>
                    <a:pt x="129" y="75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15"/>
                    <a:pt x="114" y="0"/>
                    <a:pt x="95" y="0"/>
                  </a:cubicBezTo>
                  <a:close/>
                  <a:moveTo>
                    <a:pt x="70" y="14"/>
                  </a:moveTo>
                  <a:cubicBezTo>
                    <a:pt x="68" y="20"/>
                    <a:pt x="68" y="20"/>
                    <a:pt x="68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58" y="14"/>
                    <a:pt x="58" y="14"/>
                    <a:pt x="58" y="14"/>
                  </a:cubicBezTo>
                  <a:lnTo>
                    <a:pt x="70" y="14"/>
                  </a:lnTo>
                  <a:close/>
                  <a:moveTo>
                    <a:pt x="64" y="69"/>
                  </a:moveTo>
                  <a:cubicBezTo>
                    <a:pt x="56" y="65"/>
                    <a:pt x="56" y="65"/>
                    <a:pt x="56" y="65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72" y="65"/>
                    <a:pt x="72" y="65"/>
                    <a:pt x="72" y="65"/>
                  </a:cubicBezTo>
                  <a:lnTo>
                    <a:pt x="64" y="69"/>
                  </a:lnTo>
                  <a:close/>
                </a:path>
              </a:pathLst>
            </a:custGeom>
            <a:solidFill>
              <a:srgbClr val="011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05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</p:grpSp>
      <p:sp>
        <p:nvSpPr>
          <p:cNvPr id="97" name="Freeform 72"/>
          <p:cNvSpPr>
            <a:spLocks/>
          </p:cNvSpPr>
          <p:nvPr/>
        </p:nvSpPr>
        <p:spPr bwMode="auto">
          <a:xfrm>
            <a:off x="4981502" y="3187639"/>
            <a:ext cx="336697" cy="321359"/>
          </a:xfrm>
          <a:custGeom>
            <a:avLst/>
            <a:gdLst>
              <a:gd name="T0" fmla="*/ 461 w 461"/>
              <a:gd name="T1" fmla="*/ 168 h 440"/>
              <a:gd name="T2" fmla="*/ 302 w 461"/>
              <a:gd name="T3" fmla="*/ 144 h 440"/>
              <a:gd name="T4" fmla="*/ 231 w 461"/>
              <a:gd name="T5" fmla="*/ 0 h 440"/>
              <a:gd name="T6" fmla="*/ 158 w 461"/>
              <a:gd name="T7" fmla="*/ 144 h 440"/>
              <a:gd name="T8" fmla="*/ 0 w 461"/>
              <a:gd name="T9" fmla="*/ 168 h 440"/>
              <a:gd name="T10" fmla="*/ 115 w 461"/>
              <a:gd name="T11" fmla="*/ 279 h 440"/>
              <a:gd name="T12" fmla="*/ 104 w 461"/>
              <a:gd name="T13" fmla="*/ 343 h 440"/>
              <a:gd name="T14" fmla="*/ 142 w 461"/>
              <a:gd name="T15" fmla="*/ 324 h 440"/>
              <a:gd name="T16" fmla="*/ 151 w 461"/>
              <a:gd name="T17" fmla="*/ 267 h 440"/>
              <a:gd name="T18" fmla="*/ 71 w 461"/>
              <a:gd name="T19" fmla="*/ 192 h 440"/>
              <a:gd name="T20" fmla="*/ 182 w 461"/>
              <a:gd name="T21" fmla="*/ 175 h 440"/>
              <a:gd name="T22" fmla="*/ 231 w 461"/>
              <a:gd name="T23" fmla="*/ 73 h 440"/>
              <a:gd name="T24" fmla="*/ 279 w 461"/>
              <a:gd name="T25" fmla="*/ 175 h 440"/>
              <a:gd name="T26" fmla="*/ 390 w 461"/>
              <a:gd name="T27" fmla="*/ 192 h 440"/>
              <a:gd name="T28" fmla="*/ 309 w 461"/>
              <a:gd name="T29" fmla="*/ 267 h 440"/>
              <a:gd name="T30" fmla="*/ 328 w 461"/>
              <a:gd name="T31" fmla="*/ 379 h 440"/>
              <a:gd name="T32" fmla="*/ 231 w 461"/>
              <a:gd name="T33" fmla="*/ 327 h 440"/>
              <a:gd name="T34" fmla="*/ 142 w 461"/>
              <a:gd name="T35" fmla="*/ 374 h 440"/>
              <a:gd name="T36" fmla="*/ 94 w 461"/>
              <a:gd name="T37" fmla="*/ 398 h 440"/>
              <a:gd name="T38" fmla="*/ 87 w 461"/>
              <a:gd name="T39" fmla="*/ 440 h 440"/>
              <a:gd name="T40" fmla="*/ 231 w 461"/>
              <a:gd name="T41" fmla="*/ 365 h 440"/>
              <a:gd name="T42" fmla="*/ 373 w 461"/>
              <a:gd name="T43" fmla="*/ 440 h 440"/>
              <a:gd name="T44" fmla="*/ 345 w 461"/>
              <a:gd name="T45" fmla="*/ 279 h 440"/>
              <a:gd name="T46" fmla="*/ 461 w 461"/>
              <a:gd name="T47" fmla="*/ 168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1" h="440">
                <a:moveTo>
                  <a:pt x="461" y="168"/>
                </a:moveTo>
                <a:lnTo>
                  <a:pt x="302" y="144"/>
                </a:lnTo>
                <a:lnTo>
                  <a:pt x="231" y="0"/>
                </a:lnTo>
                <a:lnTo>
                  <a:pt x="158" y="144"/>
                </a:lnTo>
                <a:lnTo>
                  <a:pt x="0" y="168"/>
                </a:lnTo>
                <a:lnTo>
                  <a:pt x="115" y="279"/>
                </a:lnTo>
                <a:lnTo>
                  <a:pt x="104" y="343"/>
                </a:lnTo>
                <a:lnTo>
                  <a:pt x="142" y="324"/>
                </a:lnTo>
                <a:lnTo>
                  <a:pt x="151" y="267"/>
                </a:lnTo>
                <a:lnTo>
                  <a:pt x="71" y="192"/>
                </a:lnTo>
                <a:lnTo>
                  <a:pt x="182" y="175"/>
                </a:lnTo>
                <a:lnTo>
                  <a:pt x="231" y="73"/>
                </a:lnTo>
                <a:lnTo>
                  <a:pt x="279" y="175"/>
                </a:lnTo>
                <a:lnTo>
                  <a:pt x="390" y="192"/>
                </a:lnTo>
                <a:lnTo>
                  <a:pt x="309" y="267"/>
                </a:lnTo>
                <a:lnTo>
                  <a:pt x="328" y="379"/>
                </a:lnTo>
                <a:lnTo>
                  <a:pt x="231" y="327"/>
                </a:lnTo>
                <a:lnTo>
                  <a:pt x="142" y="374"/>
                </a:lnTo>
                <a:lnTo>
                  <a:pt x="94" y="398"/>
                </a:lnTo>
                <a:lnTo>
                  <a:pt x="87" y="440"/>
                </a:lnTo>
                <a:lnTo>
                  <a:pt x="231" y="365"/>
                </a:lnTo>
                <a:lnTo>
                  <a:pt x="373" y="440"/>
                </a:lnTo>
                <a:lnTo>
                  <a:pt x="345" y="279"/>
                </a:lnTo>
                <a:lnTo>
                  <a:pt x="461" y="168"/>
                </a:lnTo>
                <a:close/>
              </a:path>
            </a:pathLst>
          </a:custGeom>
          <a:solidFill>
            <a:srgbClr val="011B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 dirty="0">
              <a:latin typeface="원신한 Light" panose="020B0303000000000000" pitchFamily="50" charset="-127"/>
              <a:ea typeface="원신한 Light" panose="020B0303000000000000" pitchFamily="50" charset="-127"/>
            </a:endParaRPr>
          </a:p>
        </p:txBody>
      </p:sp>
      <p:sp>
        <p:nvSpPr>
          <p:cNvPr id="98" name="이등변 삼각형 97"/>
          <p:cNvSpPr/>
          <p:nvPr/>
        </p:nvSpPr>
        <p:spPr>
          <a:xfrm rot="5400000" flipH="1">
            <a:off x="3250840" y="5151782"/>
            <a:ext cx="1203599" cy="34983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E1F5FB"/>
              </a:gs>
            </a:gsLst>
            <a:lin ang="16200000" scaled="1"/>
            <a:tileRect/>
          </a:gradFill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  <a:buClr>
                <a:srgbClr val="00B0F0"/>
              </a:buClr>
              <a:buSzPct val="80000"/>
            </a:pPr>
            <a:endParaRPr lang="ko-KR" altLang="en-US" sz="700" spc="-40" dirty="0">
              <a:solidFill>
                <a:schemeClr val="bg1"/>
              </a:solidFill>
              <a:latin typeface="원신한 Light" panose="020B0303000000000000" pitchFamily="50" charset="-127"/>
              <a:ea typeface="원신한 Light" panose="020B0303000000000000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4082438" y="3590602"/>
            <a:ext cx="524480" cy="694680"/>
            <a:chOff x="-2424180" y="5598718"/>
            <a:chExt cx="1379538" cy="1827213"/>
          </a:xfrm>
        </p:grpSpPr>
        <p:sp>
          <p:nvSpPr>
            <p:cNvPr id="247" name="Freeform 44"/>
            <p:cNvSpPr>
              <a:spLocks/>
            </p:cNvSpPr>
            <p:nvPr/>
          </p:nvSpPr>
          <p:spPr bwMode="auto">
            <a:xfrm>
              <a:off x="-1997143" y="6671868"/>
              <a:ext cx="660400" cy="754063"/>
            </a:xfrm>
            <a:custGeom>
              <a:avLst/>
              <a:gdLst>
                <a:gd name="T0" fmla="*/ 74 w 487"/>
                <a:gd name="T1" fmla="*/ 49 h 555"/>
                <a:gd name="T2" fmla="*/ 4 w 487"/>
                <a:gd name="T3" fmla="*/ 188 h 555"/>
                <a:gd name="T4" fmla="*/ 61 w 487"/>
                <a:gd name="T5" fmla="*/ 315 h 555"/>
                <a:gd name="T6" fmla="*/ 79 w 487"/>
                <a:gd name="T7" fmla="*/ 408 h 555"/>
                <a:gd name="T8" fmla="*/ 71 w 487"/>
                <a:gd name="T9" fmla="*/ 467 h 555"/>
                <a:gd name="T10" fmla="*/ 91 w 487"/>
                <a:gd name="T11" fmla="*/ 515 h 555"/>
                <a:gd name="T12" fmla="*/ 237 w 487"/>
                <a:gd name="T13" fmla="*/ 519 h 555"/>
                <a:gd name="T14" fmla="*/ 345 w 487"/>
                <a:gd name="T15" fmla="*/ 527 h 555"/>
                <a:gd name="T16" fmla="*/ 415 w 487"/>
                <a:gd name="T17" fmla="*/ 440 h 555"/>
                <a:gd name="T18" fmla="*/ 422 w 487"/>
                <a:gd name="T19" fmla="*/ 353 h 555"/>
                <a:gd name="T20" fmla="*/ 479 w 487"/>
                <a:gd name="T21" fmla="*/ 241 h 555"/>
                <a:gd name="T22" fmla="*/ 436 w 487"/>
                <a:gd name="T23" fmla="*/ 30 h 555"/>
                <a:gd name="T24" fmla="*/ 74 w 487"/>
                <a:gd name="T25" fmla="*/ 49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7" h="555">
                  <a:moveTo>
                    <a:pt x="74" y="49"/>
                  </a:moveTo>
                  <a:cubicBezTo>
                    <a:pt x="74" y="49"/>
                    <a:pt x="8" y="107"/>
                    <a:pt x="4" y="188"/>
                  </a:cubicBezTo>
                  <a:cubicBezTo>
                    <a:pt x="0" y="269"/>
                    <a:pt x="19" y="305"/>
                    <a:pt x="61" y="315"/>
                  </a:cubicBezTo>
                  <a:cubicBezTo>
                    <a:pt x="79" y="408"/>
                    <a:pt x="79" y="408"/>
                    <a:pt x="79" y="408"/>
                  </a:cubicBezTo>
                  <a:cubicBezTo>
                    <a:pt x="71" y="467"/>
                    <a:pt x="71" y="467"/>
                    <a:pt x="71" y="467"/>
                  </a:cubicBezTo>
                  <a:cubicBezTo>
                    <a:pt x="71" y="467"/>
                    <a:pt x="50" y="500"/>
                    <a:pt x="91" y="515"/>
                  </a:cubicBezTo>
                  <a:cubicBezTo>
                    <a:pt x="133" y="530"/>
                    <a:pt x="202" y="532"/>
                    <a:pt x="237" y="519"/>
                  </a:cubicBezTo>
                  <a:cubicBezTo>
                    <a:pt x="237" y="519"/>
                    <a:pt x="279" y="555"/>
                    <a:pt x="345" y="527"/>
                  </a:cubicBezTo>
                  <a:cubicBezTo>
                    <a:pt x="411" y="500"/>
                    <a:pt x="416" y="475"/>
                    <a:pt x="415" y="440"/>
                  </a:cubicBezTo>
                  <a:cubicBezTo>
                    <a:pt x="415" y="405"/>
                    <a:pt x="412" y="364"/>
                    <a:pt x="422" y="353"/>
                  </a:cubicBezTo>
                  <a:cubicBezTo>
                    <a:pt x="431" y="342"/>
                    <a:pt x="472" y="299"/>
                    <a:pt x="479" y="241"/>
                  </a:cubicBezTo>
                  <a:cubicBezTo>
                    <a:pt x="487" y="184"/>
                    <a:pt x="474" y="60"/>
                    <a:pt x="436" y="30"/>
                  </a:cubicBezTo>
                  <a:cubicBezTo>
                    <a:pt x="399" y="0"/>
                    <a:pt x="74" y="49"/>
                    <a:pt x="74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48" name="Freeform 45"/>
            <p:cNvSpPr>
              <a:spLocks/>
            </p:cNvSpPr>
            <p:nvPr/>
          </p:nvSpPr>
          <p:spPr bwMode="auto">
            <a:xfrm>
              <a:off x="-1720918" y="6697268"/>
              <a:ext cx="398463" cy="701675"/>
            </a:xfrm>
            <a:custGeom>
              <a:avLst/>
              <a:gdLst>
                <a:gd name="T0" fmla="*/ 86 w 294"/>
                <a:gd name="T1" fmla="*/ 517 h 517"/>
                <a:gd name="T2" fmla="*/ 14 w 294"/>
                <a:gd name="T3" fmla="*/ 493 h 517"/>
                <a:gd name="T4" fmla="*/ 9 w 294"/>
                <a:gd name="T5" fmla="*/ 444 h 517"/>
                <a:gd name="T6" fmla="*/ 20 w 294"/>
                <a:gd name="T7" fmla="*/ 388 h 517"/>
                <a:gd name="T8" fmla="*/ 20 w 294"/>
                <a:gd name="T9" fmla="*/ 379 h 517"/>
                <a:gd name="T10" fmla="*/ 24 w 294"/>
                <a:gd name="T11" fmla="*/ 375 h 517"/>
                <a:gd name="T12" fmla="*/ 24 w 294"/>
                <a:gd name="T13" fmla="*/ 375 h 517"/>
                <a:gd name="T14" fmla="*/ 29 w 294"/>
                <a:gd name="T15" fmla="*/ 379 h 517"/>
                <a:gd name="T16" fmla="*/ 28 w 294"/>
                <a:gd name="T17" fmla="*/ 388 h 517"/>
                <a:gd name="T18" fmla="*/ 17 w 294"/>
                <a:gd name="T19" fmla="*/ 446 h 517"/>
                <a:gd name="T20" fmla="*/ 20 w 294"/>
                <a:gd name="T21" fmla="*/ 488 h 517"/>
                <a:gd name="T22" fmla="*/ 144 w 294"/>
                <a:gd name="T23" fmla="*/ 502 h 517"/>
                <a:gd name="T24" fmla="*/ 195 w 294"/>
                <a:gd name="T25" fmla="*/ 471 h 517"/>
                <a:gd name="T26" fmla="*/ 208 w 294"/>
                <a:gd name="T27" fmla="*/ 394 h 517"/>
                <a:gd name="T28" fmla="*/ 224 w 294"/>
                <a:gd name="T29" fmla="*/ 327 h 517"/>
                <a:gd name="T30" fmla="*/ 261 w 294"/>
                <a:gd name="T31" fmla="*/ 251 h 517"/>
                <a:gd name="T32" fmla="*/ 251 w 294"/>
                <a:gd name="T33" fmla="*/ 7 h 517"/>
                <a:gd name="T34" fmla="*/ 252 w 294"/>
                <a:gd name="T35" fmla="*/ 2 h 517"/>
                <a:gd name="T36" fmla="*/ 258 w 294"/>
                <a:gd name="T37" fmla="*/ 3 h 517"/>
                <a:gd name="T38" fmla="*/ 269 w 294"/>
                <a:gd name="T39" fmla="*/ 254 h 517"/>
                <a:gd name="T40" fmla="*/ 231 w 294"/>
                <a:gd name="T41" fmla="*/ 331 h 517"/>
                <a:gd name="T42" fmla="*/ 216 w 294"/>
                <a:gd name="T43" fmla="*/ 394 h 517"/>
                <a:gd name="T44" fmla="*/ 203 w 294"/>
                <a:gd name="T45" fmla="*/ 474 h 517"/>
                <a:gd name="T46" fmla="*/ 145 w 294"/>
                <a:gd name="T47" fmla="*/ 510 h 517"/>
                <a:gd name="T48" fmla="*/ 86 w 294"/>
                <a:gd name="T49" fmla="*/ 517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4" h="517">
                  <a:moveTo>
                    <a:pt x="86" y="517"/>
                  </a:moveTo>
                  <a:cubicBezTo>
                    <a:pt x="56" y="517"/>
                    <a:pt x="28" y="511"/>
                    <a:pt x="14" y="493"/>
                  </a:cubicBezTo>
                  <a:cubicBezTo>
                    <a:pt x="0" y="476"/>
                    <a:pt x="4" y="462"/>
                    <a:pt x="9" y="444"/>
                  </a:cubicBezTo>
                  <a:cubicBezTo>
                    <a:pt x="16" y="418"/>
                    <a:pt x="20" y="397"/>
                    <a:pt x="20" y="388"/>
                  </a:cubicBezTo>
                  <a:cubicBezTo>
                    <a:pt x="20" y="379"/>
                    <a:pt x="20" y="379"/>
                    <a:pt x="20" y="379"/>
                  </a:cubicBezTo>
                  <a:cubicBezTo>
                    <a:pt x="20" y="377"/>
                    <a:pt x="22" y="375"/>
                    <a:pt x="24" y="375"/>
                  </a:cubicBezTo>
                  <a:cubicBezTo>
                    <a:pt x="24" y="375"/>
                    <a:pt x="24" y="375"/>
                    <a:pt x="24" y="375"/>
                  </a:cubicBezTo>
                  <a:cubicBezTo>
                    <a:pt x="27" y="375"/>
                    <a:pt x="29" y="377"/>
                    <a:pt x="29" y="379"/>
                  </a:cubicBezTo>
                  <a:cubicBezTo>
                    <a:pt x="28" y="388"/>
                    <a:pt x="28" y="388"/>
                    <a:pt x="28" y="388"/>
                  </a:cubicBezTo>
                  <a:cubicBezTo>
                    <a:pt x="28" y="402"/>
                    <a:pt x="21" y="430"/>
                    <a:pt x="17" y="446"/>
                  </a:cubicBezTo>
                  <a:cubicBezTo>
                    <a:pt x="12" y="463"/>
                    <a:pt x="9" y="474"/>
                    <a:pt x="20" y="488"/>
                  </a:cubicBezTo>
                  <a:cubicBezTo>
                    <a:pt x="41" y="514"/>
                    <a:pt x="100" y="512"/>
                    <a:pt x="144" y="502"/>
                  </a:cubicBezTo>
                  <a:cubicBezTo>
                    <a:pt x="159" y="499"/>
                    <a:pt x="183" y="494"/>
                    <a:pt x="195" y="471"/>
                  </a:cubicBezTo>
                  <a:cubicBezTo>
                    <a:pt x="207" y="448"/>
                    <a:pt x="208" y="406"/>
                    <a:pt x="208" y="394"/>
                  </a:cubicBezTo>
                  <a:cubicBezTo>
                    <a:pt x="208" y="354"/>
                    <a:pt x="215" y="341"/>
                    <a:pt x="224" y="327"/>
                  </a:cubicBezTo>
                  <a:cubicBezTo>
                    <a:pt x="249" y="289"/>
                    <a:pt x="260" y="255"/>
                    <a:pt x="261" y="251"/>
                  </a:cubicBezTo>
                  <a:cubicBezTo>
                    <a:pt x="288" y="162"/>
                    <a:pt x="273" y="45"/>
                    <a:pt x="251" y="7"/>
                  </a:cubicBezTo>
                  <a:cubicBezTo>
                    <a:pt x="250" y="5"/>
                    <a:pt x="250" y="3"/>
                    <a:pt x="252" y="2"/>
                  </a:cubicBezTo>
                  <a:cubicBezTo>
                    <a:pt x="254" y="0"/>
                    <a:pt x="257" y="1"/>
                    <a:pt x="258" y="3"/>
                  </a:cubicBezTo>
                  <a:cubicBezTo>
                    <a:pt x="284" y="48"/>
                    <a:pt x="294" y="170"/>
                    <a:pt x="269" y="254"/>
                  </a:cubicBezTo>
                  <a:cubicBezTo>
                    <a:pt x="268" y="258"/>
                    <a:pt x="257" y="293"/>
                    <a:pt x="231" y="331"/>
                  </a:cubicBezTo>
                  <a:cubicBezTo>
                    <a:pt x="222" y="344"/>
                    <a:pt x="216" y="357"/>
                    <a:pt x="216" y="394"/>
                  </a:cubicBezTo>
                  <a:cubicBezTo>
                    <a:pt x="216" y="407"/>
                    <a:pt x="215" y="450"/>
                    <a:pt x="203" y="474"/>
                  </a:cubicBezTo>
                  <a:cubicBezTo>
                    <a:pt x="188" y="501"/>
                    <a:pt x="161" y="507"/>
                    <a:pt x="145" y="510"/>
                  </a:cubicBezTo>
                  <a:cubicBezTo>
                    <a:pt x="126" y="514"/>
                    <a:pt x="106" y="517"/>
                    <a:pt x="86" y="517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49" name="Freeform 46"/>
            <p:cNvSpPr>
              <a:spLocks/>
            </p:cNvSpPr>
            <p:nvPr/>
          </p:nvSpPr>
          <p:spPr bwMode="auto">
            <a:xfrm>
              <a:off x="-1984443" y="6795693"/>
              <a:ext cx="300038" cy="596900"/>
            </a:xfrm>
            <a:custGeom>
              <a:avLst/>
              <a:gdLst>
                <a:gd name="T0" fmla="*/ 149 w 221"/>
                <a:gd name="T1" fmla="*/ 440 h 440"/>
                <a:gd name="T2" fmla="*/ 62 w 221"/>
                <a:gd name="T3" fmla="*/ 411 h 440"/>
                <a:gd name="T4" fmla="*/ 60 w 221"/>
                <a:gd name="T5" fmla="*/ 368 h 440"/>
                <a:gd name="T6" fmla="*/ 64 w 221"/>
                <a:gd name="T7" fmla="*/ 337 h 440"/>
                <a:gd name="T8" fmla="*/ 46 w 221"/>
                <a:gd name="T9" fmla="*/ 236 h 440"/>
                <a:gd name="T10" fmla="*/ 48 w 221"/>
                <a:gd name="T11" fmla="*/ 3 h 440"/>
                <a:gd name="T12" fmla="*/ 53 w 221"/>
                <a:gd name="T13" fmla="*/ 1 h 440"/>
                <a:gd name="T14" fmla="*/ 55 w 221"/>
                <a:gd name="T15" fmla="*/ 6 h 440"/>
                <a:gd name="T16" fmla="*/ 54 w 221"/>
                <a:gd name="T17" fmla="*/ 233 h 440"/>
                <a:gd name="T18" fmla="*/ 72 w 221"/>
                <a:gd name="T19" fmla="*/ 337 h 440"/>
                <a:gd name="T20" fmla="*/ 68 w 221"/>
                <a:gd name="T21" fmla="*/ 372 h 440"/>
                <a:gd name="T22" fmla="*/ 69 w 221"/>
                <a:gd name="T23" fmla="*/ 407 h 440"/>
                <a:gd name="T24" fmla="*/ 215 w 221"/>
                <a:gd name="T25" fmla="*/ 422 h 440"/>
                <a:gd name="T26" fmla="*/ 220 w 221"/>
                <a:gd name="T27" fmla="*/ 424 h 440"/>
                <a:gd name="T28" fmla="*/ 218 w 221"/>
                <a:gd name="T29" fmla="*/ 430 h 440"/>
                <a:gd name="T30" fmla="*/ 149 w 221"/>
                <a:gd name="T31" fmla="*/ 44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1" h="440">
                  <a:moveTo>
                    <a:pt x="149" y="440"/>
                  </a:moveTo>
                  <a:cubicBezTo>
                    <a:pt x="111" y="440"/>
                    <a:pt x="73" y="432"/>
                    <a:pt x="62" y="411"/>
                  </a:cubicBezTo>
                  <a:cubicBezTo>
                    <a:pt x="54" y="397"/>
                    <a:pt x="54" y="383"/>
                    <a:pt x="60" y="368"/>
                  </a:cubicBezTo>
                  <a:cubicBezTo>
                    <a:pt x="62" y="364"/>
                    <a:pt x="64" y="347"/>
                    <a:pt x="64" y="337"/>
                  </a:cubicBezTo>
                  <a:cubicBezTo>
                    <a:pt x="64" y="296"/>
                    <a:pt x="58" y="264"/>
                    <a:pt x="46" y="236"/>
                  </a:cubicBezTo>
                  <a:cubicBezTo>
                    <a:pt x="0" y="130"/>
                    <a:pt x="47" y="5"/>
                    <a:pt x="48" y="3"/>
                  </a:cubicBezTo>
                  <a:cubicBezTo>
                    <a:pt x="48" y="1"/>
                    <a:pt x="51" y="0"/>
                    <a:pt x="53" y="1"/>
                  </a:cubicBezTo>
                  <a:cubicBezTo>
                    <a:pt x="55" y="2"/>
                    <a:pt x="56" y="4"/>
                    <a:pt x="55" y="6"/>
                  </a:cubicBezTo>
                  <a:cubicBezTo>
                    <a:pt x="55" y="8"/>
                    <a:pt x="9" y="130"/>
                    <a:pt x="54" y="233"/>
                  </a:cubicBezTo>
                  <a:cubicBezTo>
                    <a:pt x="66" y="262"/>
                    <a:pt x="72" y="295"/>
                    <a:pt x="72" y="337"/>
                  </a:cubicBezTo>
                  <a:cubicBezTo>
                    <a:pt x="72" y="342"/>
                    <a:pt x="71" y="365"/>
                    <a:pt x="68" y="372"/>
                  </a:cubicBezTo>
                  <a:cubicBezTo>
                    <a:pt x="62" y="384"/>
                    <a:pt x="63" y="396"/>
                    <a:pt x="69" y="407"/>
                  </a:cubicBezTo>
                  <a:cubicBezTo>
                    <a:pt x="85" y="437"/>
                    <a:pt x="172" y="438"/>
                    <a:pt x="215" y="422"/>
                  </a:cubicBezTo>
                  <a:cubicBezTo>
                    <a:pt x="217" y="421"/>
                    <a:pt x="219" y="422"/>
                    <a:pt x="220" y="424"/>
                  </a:cubicBezTo>
                  <a:cubicBezTo>
                    <a:pt x="221" y="427"/>
                    <a:pt x="220" y="429"/>
                    <a:pt x="218" y="430"/>
                  </a:cubicBezTo>
                  <a:cubicBezTo>
                    <a:pt x="199" y="436"/>
                    <a:pt x="174" y="440"/>
                    <a:pt x="149" y="440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0" name="Freeform 47"/>
            <p:cNvSpPr>
              <a:spLocks/>
            </p:cNvSpPr>
            <p:nvPr/>
          </p:nvSpPr>
          <p:spPr bwMode="auto">
            <a:xfrm>
              <a:off x="-2025718" y="6795693"/>
              <a:ext cx="104775" cy="298450"/>
            </a:xfrm>
            <a:custGeom>
              <a:avLst/>
              <a:gdLst>
                <a:gd name="T0" fmla="*/ 73 w 77"/>
                <a:gd name="T1" fmla="*/ 220 h 220"/>
                <a:gd name="T2" fmla="*/ 71 w 77"/>
                <a:gd name="T3" fmla="*/ 219 h 220"/>
                <a:gd name="T4" fmla="*/ 26 w 77"/>
                <a:gd name="T5" fmla="*/ 174 h 220"/>
                <a:gd name="T6" fmla="*/ 47 w 77"/>
                <a:gd name="T7" fmla="*/ 3 h 220"/>
                <a:gd name="T8" fmla="*/ 52 w 77"/>
                <a:gd name="T9" fmla="*/ 1 h 220"/>
                <a:gd name="T10" fmla="*/ 54 w 77"/>
                <a:gd name="T11" fmla="*/ 7 h 220"/>
                <a:gd name="T12" fmla="*/ 34 w 77"/>
                <a:gd name="T13" fmla="*/ 171 h 220"/>
                <a:gd name="T14" fmla="*/ 74 w 77"/>
                <a:gd name="T15" fmla="*/ 212 h 220"/>
                <a:gd name="T16" fmla="*/ 76 w 77"/>
                <a:gd name="T17" fmla="*/ 217 h 220"/>
                <a:gd name="T18" fmla="*/ 73 w 77"/>
                <a:gd name="T19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20">
                  <a:moveTo>
                    <a:pt x="73" y="220"/>
                  </a:moveTo>
                  <a:cubicBezTo>
                    <a:pt x="72" y="220"/>
                    <a:pt x="72" y="219"/>
                    <a:pt x="71" y="219"/>
                  </a:cubicBezTo>
                  <a:cubicBezTo>
                    <a:pt x="50" y="210"/>
                    <a:pt x="34" y="195"/>
                    <a:pt x="26" y="174"/>
                  </a:cubicBezTo>
                  <a:cubicBezTo>
                    <a:pt x="0" y="108"/>
                    <a:pt x="45" y="7"/>
                    <a:pt x="47" y="3"/>
                  </a:cubicBezTo>
                  <a:cubicBezTo>
                    <a:pt x="48" y="1"/>
                    <a:pt x="50" y="0"/>
                    <a:pt x="52" y="1"/>
                  </a:cubicBezTo>
                  <a:cubicBezTo>
                    <a:pt x="54" y="2"/>
                    <a:pt x="55" y="4"/>
                    <a:pt x="54" y="7"/>
                  </a:cubicBezTo>
                  <a:cubicBezTo>
                    <a:pt x="54" y="8"/>
                    <a:pt x="9" y="108"/>
                    <a:pt x="34" y="171"/>
                  </a:cubicBezTo>
                  <a:cubicBezTo>
                    <a:pt x="41" y="190"/>
                    <a:pt x="55" y="204"/>
                    <a:pt x="74" y="212"/>
                  </a:cubicBezTo>
                  <a:cubicBezTo>
                    <a:pt x="76" y="212"/>
                    <a:pt x="77" y="215"/>
                    <a:pt x="76" y="217"/>
                  </a:cubicBezTo>
                  <a:cubicBezTo>
                    <a:pt x="76" y="219"/>
                    <a:pt x="74" y="220"/>
                    <a:pt x="73" y="220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1" name="Freeform 48"/>
            <p:cNvSpPr>
              <a:spLocks/>
            </p:cNvSpPr>
            <p:nvPr/>
          </p:nvSpPr>
          <p:spPr bwMode="auto">
            <a:xfrm>
              <a:off x="-1986030" y="6643293"/>
              <a:ext cx="684213" cy="171450"/>
            </a:xfrm>
            <a:custGeom>
              <a:avLst/>
              <a:gdLst>
                <a:gd name="T0" fmla="*/ 62 w 505"/>
                <a:gd name="T1" fmla="*/ 74 h 127"/>
                <a:gd name="T2" fmla="*/ 4 w 505"/>
                <a:gd name="T3" fmla="*/ 108 h 127"/>
                <a:gd name="T4" fmla="*/ 240 w 505"/>
                <a:gd name="T5" fmla="*/ 127 h 127"/>
                <a:gd name="T6" fmla="*/ 502 w 505"/>
                <a:gd name="T7" fmla="*/ 51 h 127"/>
                <a:gd name="T8" fmla="*/ 425 w 505"/>
                <a:gd name="T9" fmla="*/ 0 h 127"/>
                <a:gd name="T10" fmla="*/ 62 w 505"/>
                <a:gd name="T11" fmla="*/ 74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5" h="127">
                  <a:moveTo>
                    <a:pt x="62" y="74"/>
                  </a:moveTo>
                  <a:cubicBezTo>
                    <a:pt x="62" y="74"/>
                    <a:pt x="8" y="90"/>
                    <a:pt x="4" y="108"/>
                  </a:cubicBezTo>
                  <a:cubicBezTo>
                    <a:pt x="0" y="126"/>
                    <a:pt x="240" y="127"/>
                    <a:pt x="240" y="127"/>
                  </a:cubicBezTo>
                  <a:cubicBezTo>
                    <a:pt x="240" y="127"/>
                    <a:pt x="498" y="82"/>
                    <a:pt x="502" y="51"/>
                  </a:cubicBezTo>
                  <a:cubicBezTo>
                    <a:pt x="505" y="23"/>
                    <a:pt x="425" y="0"/>
                    <a:pt x="425" y="0"/>
                  </a:cubicBezTo>
                  <a:lnTo>
                    <a:pt x="62" y="74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2" name="Freeform 49"/>
            <p:cNvSpPr>
              <a:spLocks noEditPoints="1"/>
            </p:cNvSpPr>
            <p:nvPr/>
          </p:nvSpPr>
          <p:spPr bwMode="auto">
            <a:xfrm>
              <a:off x="-1986030" y="6635355"/>
              <a:ext cx="690563" cy="185738"/>
            </a:xfrm>
            <a:custGeom>
              <a:avLst/>
              <a:gdLst>
                <a:gd name="T0" fmla="*/ 240 w 509"/>
                <a:gd name="T1" fmla="*/ 137 h 137"/>
                <a:gd name="T2" fmla="*/ 240 w 509"/>
                <a:gd name="T3" fmla="*/ 137 h 137"/>
                <a:gd name="T4" fmla="*/ 127 w 509"/>
                <a:gd name="T5" fmla="*/ 134 h 137"/>
                <a:gd name="T6" fmla="*/ 1 w 509"/>
                <a:gd name="T7" fmla="*/ 118 h 137"/>
                <a:gd name="T8" fmla="*/ 0 w 509"/>
                <a:gd name="T9" fmla="*/ 112 h 137"/>
                <a:gd name="T10" fmla="*/ 61 w 509"/>
                <a:gd name="T11" fmla="*/ 75 h 137"/>
                <a:gd name="T12" fmla="*/ 61 w 509"/>
                <a:gd name="T13" fmla="*/ 75 h 137"/>
                <a:gd name="T14" fmla="*/ 426 w 509"/>
                <a:gd name="T15" fmla="*/ 0 h 137"/>
                <a:gd name="T16" fmla="*/ 427 w 509"/>
                <a:gd name="T17" fmla="*/ 1 h 137"/>
                <a:gd name="T18" fmla="*/ 506 w 509"/>
                <a:gd name="T19" fmla="*/ 56 h 137"/>
                <a:gd name="T20" fmla="*/ 370 w 509"/>
                <a:gd name="T21" fmla="*/ 110 h 137"/>
                <a:gd name="T22" fmla="*/ 240 w 509"/>
                <a:gd name="T23" fmla="*/ 137 h 137"/>
                <a:gd name="T24" fmla="*/ 8 w 509"/>
                <a:gd name="T25" fmla="*/ 113 h 137"/>
                <a:gd name="T26" fmla="*/ 239 w 509"/>
                <a:gd name="T27" fmla="*/ 128 h 137"/>
                <a:gd name="T28" fmla="*/ 497 w 509"/>
                <a:gd name="T29" fmla="*/ 55 h 137"/>
                <a:gd name="T30" fmla="*/ 425 w 509"/>
                <a:gd name="T31" fmla="*/ 9 h 137"/>
                <a:gd name="T32" fmla="*/ 63 w 509"/>
                <a:gd name="T33" fmla="*/ 83 h 137"/>
                <a:gd name="T34" fmla="*/ 8 w 509"/>
                <a:gd name="T35" fmla="*/ 11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9" h="137">
                  <a:moveTo>
                    <a:pt x="240" y="137"/>
                  </a:moveTo>
                  <a:cubicBezTo>
                    <a:pt x="240" y="137"/>
                    <a:pt x="240" y="137"/>
                    <a:pt x="240" y="137"/>
                  </a:cubicBezTo>
                  <a:cubicBezTo>
                    <a:pt x="239" y="137"/>
                    <a:pt x="183" y="136"/>
                    <a:pt x="127" y="134"/>
                  </a:cubicBezTo>
                  <a:cubicBezTo>
                    <a:pt x="10" y="129"/>
                    <a:pt x="4" y="121"/>
                    <a:pt x="1" y="118"/>
                  </a:cubicBezTo>
                  <a:cubicBezTo>
                    <a:pt x="0" y="116"/>
                    <a:pt x="0" y="114"/>
                    <a:pt x="0" y="112"/>
                  </a:cubicBezTo>
                  <a:cubicBezTo>
                    <a:pt x="4" y="93"/>
                    <a:pt x="55" y="77"/>
                    <a:pt x="61" y="75"/>
                  </a:cubicBezTo>
                  <a:cubicBezTo>
                    <a:pt x="61" y="75"/>
                    <a:pt x="61" y="75"/>
                    <a:pt x="61" y="75"/>
                  </a:cubicBezTo>
                  <a:cubicBezTo>
                    <a:pt x="426" y="0"/>
                    <a:pt x="426" y="0"/>
                    <a:pt x="426" y="0"/>
                  </a:cubicBezTo>
                  <a:cubicBezTo>
                    <a:pt x="427" y="1"/>
                    <a:pt x="427" y="1"/>
                    <a:pt x="427" y="1"/>
                  </a:cubicBezTo>
                  <a:cubicBezTo>
                    <a:pt x="435" y="3"/>
                    <a:pt x="509" y="26"/>
                    <a:pt x="506" y="56"/>
                  </a:cubicBezTo>
                  <a:cubicBezTo>
                    <a:pt x="505" y="62"/>
                    <a:pt x="503" y="79"/>
                    <a:pt x="370" y="110"/>
                  </a:cubicBezTo>
                  <a:cubicBezTo>
                    <a:pt x="306" y="125"/>
                    <a:pt x="241" y="136"/>
                    <a:pt x="240" y="137"/>
                  </a:cubicBezTo>
                  <a:close/>
                  <a:moveTo>
                    <a:pt x="8" y="113"/>
                  </a:moveTo>
                  <a:cubicBezTo>
                    <a:pt x="20" y="122"/>
                    <a:pt x="134" y="128"/>
                    <a:pt x="239" y="128"/>
                  </a:cubicBezTo>
                  <a:cubicBezTo>
                    <a:pt x="365" y="106"/>
                    <a:pt x="495" y="73"/>
                    <a:pt x="497" y="55"/>
                  </a:cubicBezTo>
                  <a:cubicBezTo>
                    <a:pt x="499" y="38"/>
                    <a:pt x="455" y="18"/>
                    <a:pt x="425" y="9"/>
                  </a:cubicBezTo>
                  <a:cubicBezTo>
                    <a:pt x="63" y="83"/>
                    <a:pt x="63" y="83"/>
                    <a:pt x="63" y="83"/>
                  </a:cubicBezTo>
                  <a:cubicBezTo>
                    <a:pt x="43" y="89"/>
                    <a:pt x="12" y="102"/>
                    <a:pt x="8" y="113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3" name="Freeform 50"/>
            <p:cNvSpPr>
              <a:spLocks/>
            </p:cNvSpPr>
            <p:nvPr/>
          </p:nvSpPr>
          <p:spPr bwMode="auto">
            <a:xfrm>
              <a:off x="-1689168" y="6784580"/>
              <a:ext cx="101600" cy="128588"/>
            </a:xfrm>
            <a:custGeom>
              <a:avLst/>
              <a:gdLst>
                <a:gd name="T0" fmla="*/ 0 w 75"/>
                <a:gd name="T1" fmla="*/ 16 h 94"/>
                <a:gd name="T2" fmla="*/ 65 w 75"/>
                <a:gd name="T3" fmla="*/ 94 h 94"/>
                <a:gd name="T4" fmla="*/ 54 w 75"/>
                <a:gd name="T5" fmla="*/ 24 h 94"/>
                <a:gd name="T6" fmla="*/ 10 w 75"/>
                <a:gd name="T7" fmla="*/ 0 h 94"/>
                <a:gd name="T8" fmla="*/ 0 w 75"/>
                <a:gd name="T9" fmla="*/ 1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94">
                  <a:moveTo>
                    <a:pt x="0" y="16"/>
                  </a:moveTo>
                  <a:cubicBezTo>
                    <a:pt x="0" y="16"/>
                    <a:pt x="11" y="78"/>
                    <a:pt x="65" y="94"/>
                  </a:cubicBezTo>
                  <a:cubicBezTo>
                    <a:pt x="65" y="94"/>
                    <a:pt x="75" y="46"/>
                    <a:pt x="54" y="24"/>
                  </a:cubicBezTo>
                  <a:cubicBezTo>
                    <a:pt x="37" y="6"/>
                    <a:pt x="10" y="0"/>
                    <a:pt x="1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4" name="Freeform 51"/>
            <p:cNvSpPr>
              <a:spLocks noEditPoints="1"/>
            </p:cNvSpPr>
            <p:nvPr/>
          </p:nvSpPr>
          <p:spPr bwMode="auto">
            <a:xfrm>
              <a:off x="-1693930" y="6779818"/>
              <a:ext cx="112713" cy="138113"/>
            </a:xfrm>
            <a:custGeom>
              <a:avLst/>
              <a:gdLst>
                <a:gd name="T0" fmla="*/ 69 w 83"/>
                <a:gd name="T1" fmla="*/ 102 h 102"/>
                <a:gd name="T2" fmla="*/ 68 w 83"/>
                <a:gd name="T3" fmla="*/ 102 h 102"/>
                <a:gd name="T4" fmla="*/ 0 w 83"/>
                <a:gd name="T5" fmla="*/ 21 h 102"/>
                <a:gd name="T6" fmla="*/ 1 w 83"/>
                <a:gd name="T7" fmla="*/ 18 h 102"/>
                <a:gd name="T8" fmla="*/ 10 w 83"/>
                <a:gd name="T9" fmla="*/ 2 h 102"/>
                <a:gd name="T10" fmla="*/ 14 w 83"/>
                <a:gd name="T11" fmla="*/ 0 h 102"/>
                <a:gd name="T12" fmla="*/ 61 w 83"/>
                <a:gd name="T13" fmla="*/ 26 h 102"/>
                <a:gd name="T14" fmla="*/ 73 w 83"/>
                <a:gd name="T15" fmla="*/ 98 h 102"/>
                <a:gd name="T16" fmla="*/ 71 w 83"/>
                <a:gd name="T17" fmla="*/ 101 h 102"/>
                <a:gd name="T18" fmla="*/ 69 w 83"/>
                <a:gd name="T19" fmla="*/ 102 h 102"/>
                <a:gd name="T20" fmla="*/ 8 w 83"/>
                <a:gd name="T21" fmla="*/ 21 h 102"/>
                <a:gd name="T22" fmla="*/ 66 w 83"/>
                <a:gd name="T23" fmla="*/ 92 h 102"/>
                <a:gd name="T24" fmla="*/ 55 w 83"/>
                <a:gd name="T25" fmla="*/ 31 h 102"/>
                <a:gd name="T26" fmla="*/ 16 w 83"/>
                <a:gd name="T27" fmla="*/ 9 h 102"/>
                <a:gd name="T28" fmla="*/ 8 w 83"/>
                <a:gd name="T29" fmla="*/ 2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3" h="102">
                  <a:moveTo>
                    <a:pt x="69" y="102"/>
                  </a:moveTo>
                  <a:cubicBezTo>
                    <a:pt x="69" y="102"/>
                    <a:pt x="68" y="102"/>
                    <a:pt x="68" y="102"/>
                  </a:cubicBezTo>
                  <a:cubicBezTo>
                    <a:pt x="12" y="85"/>
                    <a:pt x="0" y="23"/>
                    <a:pt x="0" y="21"/>
                  </a:cubicBezTo>
                  <a:cubicBezTo>
                    <a:pt x="0" y="20"/>
                    <a:pt x="0" y="19"/>
                    <a:pt x="1" y="1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1"/>
                    <a:pt x="13" y="0"/>
                    <a:pt x="14" y="0"/>
                  </a:cubicBezTo>
                  <a:cubicBezTo>
                    <a:pt x="16" y="0"/>
                    <a:pt x="43" y="6"/>
                    <a:pt x="61" y="26"/>
                  </a:cubicBezTo>
                  <a:cubicBezTo>
                    <a:pt x="83" y="49"/>
                    <a:pt x="74" y="96"/>
                    <a:pt x="73" y="98"/>
                  </a:cubicBezTo>
                  <a:cubicBezTo>
                    <a:pt x="73" y="100"/>
                    <a:pt x="72" y="101"/>
                    <a:pt x="71" y="101"/>
                  </a:cubicBezTo>
                  <a:cubicBezTo>
                    <a:pt x="71" y="102"/>
                    <a:pt x="70" y="102"/>
                    <a:pt x="69" y="102"/>
                  </a:cubicBezTo>
                  <a:close/>
                  <a:moveTo>
                    <a:pt x="8" y="21"/>
                  </a:moveTo>
                  <a:cubicBezTo>
                    <a:pt x="11" y="30"/>
                    <a:pt x="23" y="77"/>
                    <a:pt x="66" y="92"/>
                  </a:cubicBezTo>
                  <a:cubicBezTo>
                    <a:pt x="68" y="80"/>
                    <a:pt x="70" y="48"/>
                    <a:pt x="55" y="31"/>
                  </a:cubicBezTo>
                  <a:cubicBezTo>
                    <a:pt x="42" y="17"/>
                    <a:pt x="23" y="11"/>
                    <a:pt x="16" y="9"/>
                  </a:cubicBezTo>
                  <a:lnTo>
                    <a:pt x="8" y="21"/>
                  </a:ln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55" name="Freeform 52"/>
            <p:cNvSpPr>
              <a:spLocks/>
            </p:cNvSpPr>
            <p:nvPr/>
          </p:nvSpPr>
          <p:spPr bwMode="auto">
            <a:xfrm>
              <a:off x="-1812993" y="6790930"/>
              <a:ext cx="127000" cy="136525"/>
            </a:xfrm>
            <a:custGeom>
              <a:avLst/>
              <a:gdLst>
                <a:gd name="T0" fmla="*/ 69 w 94"/>
                <a:gd name="T1" fmla="*/ 0 h 101"/>
                <a:gd name="T2" fmla="*/ 15 w 94"/>
                <a:gd name="T3" fmla="*/ 101 h 101"/>
                <a:gd name="T4" fmla="*/ 67 w 94"/>
                <a:gd name="T5" fmla="*/ 70 h 101"/>
                <a:gd name="T6" fmla="*/ 80 w 94"/>
                <a:gd name="T7" fmla="*/ 13 h 101"/>
                <a:gd name="T8" fmla="*/ 69 w 94"/>
                <a:gd name="T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01">
                  <a:moveTo>
                    <a:pt x="69" y="0"/>
                  </a:moveTo>
                  <a:cubicBezTo>
                    <a:pt x="69" y="0"/>
                    <a:pt x="0" y="30"/>
                    <a:pt x="15" y="101"/>
                  </a:cubicBezTo>
                  <a:cubicBezTo>
                    <a:pt x="15" y="101"/>
                    <a:pt x="50" y="93"/>
                    <a:pt x="67" y="70"/>
                  </a:cubicBezTo>
                  <a:cubicBezTo>
                    <a:pt x="94" y="32"/>
                    <a:pt x="80" y="13"/>
                    <a:pt x="80" y="13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2" name="Freeform 53"/>
            <p:cNvSpPr>
              <a:spLocks noEditPoints="1"/>
            </p:cNvSpPr>
            <p:nvPr/>
          </p:nvSpPr>
          <p:spPr bwMode="auto">
            <a:xfrm>
              <a:off x="-1819343" y="6784580"/>
              <a:ext cx="139700" cy="149225"/>
            </a:xfrm>
            <a:custGeom>
              <a:avLst/>
              <a:gdLst>
                <a:gd name="T0" fmla="*/ 19 w 103"/>
                <a:gd name="T1" fmla="*/ 110 h 110"/>
                <a:gd name="T2" fmla="*/ 17 w 103"/>
                <a:gd name="T3" fmla="*/ 109 h 110"/>
                <a:gd name="T4" fmla="*/ 15 w 103"/>
                <a:gd name="T5" fmla="*/ 106 h 110"/>
                <a:gd name="T6" fmla="*/ 71 w 103"/>
                <a:gd name="T7" fmla="*/ 0 h 110"/>
                <a:gd name="T8" fmla="*/ 76 w 103"/>
                <a:gd name="T9" fmla="*/ 1 h 110"/>
                <a:gd name="T10" fmla="*/ 87 w 103"/>
                <a:gd name="T11" fmla="*/ 14 h 110"/>
                <a:gd name="T12" fmla="*/ 74 w 103"/>
                <a:gd name="T13" fmla="*/ 76 h 110"/>
                <a:gd name="T14" fmla="*/ 20 w 103"/>
                <a:gd name="T15" fmla="*/ 109 h 110"/>
                <a:gd name="T16" fmla="*/ 19 w 103"/>
                <a:gd name="T17" fmla="*/ 110 h 110"/>
                <a:gd name="T18" fmla="*/ 72 w 103"/>
                <a:gd name="T19" fmla="*/ 9 h 110"/>
                <a:gd name="T20" fmla="*/ 22 w 103"/>
                <a:gd name="T21" fmla="*/ 100 h 110"/>
                <a:gd name="T22" fmla="*/ 68 w 103"/>
                <a:gd name="T23" fmla="*/ 71 h 110"/>
                <a:gd name="T24" fmla="*/ 80 w 103"/>
                <a:gd name="T25" fmla="*/ 19 h 110"/>
                <a:gd name="T26" fmla="*/ 72 w 103"/>
                <a:gd name="T27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110">
                  <a:moveTo>
                    <a:pt x="19" y="110"/>
                  </a:moveTo>
                  <a:cubicBezTo>
                    <a:pt x="18" y="110"/>
                    <a:pt x="17" y="109"/>
                    <a:pt x="17" y="109"/>
                  </a:cubicBezTo>
                  <a:cubicBezTo>
                    <a:pt x="16" y="108"/>
                    <a:pt x="15" y="107"/>
                    <a:pt x="15" y="106"/>
                  </a:cubicBezTo>
                  <a:cubicBezTo>
                    <a:pt x="0" y="33"/>
                    <a:pt x="71" y="1"/>
                    <a:pt x="71" y="0"/>
                  </a:cubicBezTo>
                  <a:cubicBezTo>
                    <a:pt x="73" y="0"/>
                    <a:pt x="75" y="0"/>
                    <a:pt x="76" y="1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8" y="15"/>
                    <a:pt x="103" y="37"/>
                    <a:pt x="74" y="76"/>
                  </a:cubicBezTo>
                  <a:cubicBezTo>
                    <a:pt x="57" y="101"/>
                    <a:pt x="21" y="109"/>
                    <a:pt x="20" y="109"/>
                  </a:cubicBezTo>
                  <a:cubicBezTo>
                    <a:pt x="20" y="110"/>
                    <a:pt x="19" y="110"/>
                    <a:pt x="19" y="110"/>
                  </a:cubicBezTo>
                  <a:close/>
                  <a:moveTo>
                    <a:pt x="72" y="9"/>
                  </a:moveTo>
                  <a:cubicBezTo>
                    <a:pt x="60" y="16"/>
                    <a:pt x="13" y="44"/>
                    <a:pt x="22" y="100"/>
                  </a:cubicBezTo>
                  <a:cubicBezTo>
                    <a:pt x="32" y="97"/>
                    <a:pt x="55" y="88"/>
                    <a:pt x="68" y="71"/>
                  </a:cubicBezTo>
                  <a:cubicBezTo>
                    <a:pt x="91" y="38"/>
                    <a:pt x="81" y="21"/>
                    <a:pt x="80" y="19"/>
                  </a:cubicBezTo>
                  <a:lnTo>
                    <a:pt x="72" y="9"/>
                  </a:ln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3" name="Freeform 54"/>
            <p:cNvSpPr>
              <a:spLocks/>
            </p:cNvSpPr>
            <p:nvPr/>
          </p:nvSpPr>
          <p:spPr bwMode="auto">
            <a:xfrm>
              <a:off x="-1730443" y="6762355"/>
              <a:ext cx="68263" cy="61913"/>
            </a:xfrm>
            <a:custGeom>
              <a:avLst/>
              <a:gdLst>
                <a:gd name="T0" fmla="*/ 0 w 51"/>
                <a:gd name="T1" fmla="*/ 7 h 46"/>
                <a:gd name="T2" fmla="*/ 26 w 51"/>
                <a:gd name="T3" fmla="*/ 43 h 46"/>
                <a:gd name="T4" fmla="*/ 51 w 51"/>
                <a:gd name="T5" fmla="*/ 0 h 46"/>
                <a:gd name="T6" fmla="*/ 0 w 51"/>
                <a:gd name="T7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46">
                  <a:moveTo>
                    <a:pt x="0" y="7"/>
                  </a:moveTo>
                  <a:cubicBezTo>
                    <a:pt x="0" y="7"/>
                    <a:pt x="2" y="46"/>
                    <a:pt x="26" y="43"/>
                  </a:cubicBezTo>
                  <a:cubicBezTo>
                    <a:pt x="51" y="39"/>
                    <a:pt x="51" y="0"/>
                    <a:pt x="51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4" name="Freeform 55"/>
            <p:cNvSpPr>
              <a:spLocks noEditPoints="1"/>
            </p:cNvSpPr>
            <p:nvPr/>
          </p:nvSpPr>
          <p:spPr bwMode="auto">
            <a:xfrm>
              <a:off x="-1736793" y="6756005"/>
              <a:ext cx="80963" cy="69850"/>
            </a:xfrm>
            <a:custGeom>
              <a:avLst/>
              <a:gdLst>
                <a:gd name="T0" fmla="*/ 27 w 59"/>
                <a:gd name="T1" fmla="*/ 52 h 52"/>
                <a:gd name="T2" fmla="*/ 13 w 59"/>
                <a:gd name="T3" fmla="*/ 47 h 52"/>
                <a:gd name="T4" fmla="*/ 0 w 59"/>
                <a:gd name="T5" fmla="*/ 12 h 52"/>
                <a:gd name="T6" fmla="*/ 3 w 59"/>
                <a:gd name="T7" fmla="*/ 8 h 52"/>
                <a:gd name="T8" fmla="*/ 54 w 59"/>
                <a:gd name="T9" fmla="*/ 1 h 52"/>
                <a:gd name="T10" fmla="*/ 58 w 59"/>
                <a:gd name="T11" fmla="*/ 1 h 52"/>
                <a:gd name="T12" fmla="*/ 59 w 59"/>
                <a:gd name="T13" fmla="*/ 5 h 52"/>
                <a:gd name="T14" fmla="*/ 31 w 59"/>
                <a:gd name="T15" fmla="*/ 52 h 52"/>
                <a:gd name="T16" fmla="*/ 27 w 59"/>
                <a:gd name="T17" fmla="*/ 52 h 52"/>
                <a:gd name="T18" fmla="*/ 8 w 59"/>
                <a:gd name="T19" fmla="*/ 16 h 52"/>
                <a:gd name="T20" fmla="*/ 19 w 59"/>
                <a:gd name="T21" fmla="*/ 41 h 52"/>
                <a:gd name="T22" fmla="*/ 30 w 59"/>
                <a:gd name="T23" fmla="*/ 43 h 52"/>
                <a:gd name="T24" fmla="*/ 50 w 59"/>
                <a:gd name="T25" fmla="*/ 9 h 52"/>
                <a:gd name="T26" fmla="*/ 8 w 59"/>
                <a:gd name="T27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52">
                  <a:moveTo>
                    <a:pt x="27" y="52"/>
                  </a:moveTo>
                  <a:cubicBezTo>
                    <a:pt x="22" y="52"/>
                    <a:pt x="18" y="50"/>
                    <a:pt x="13" y="47"/>
                  </a:cubicBezTo>
                  <a:cubicBezTo>
                    <a:pt x="1" y="36"/>
                    <a:pt x="0" y="13"/>
                    <a:pt x="0" y="12"/>
                  </a:cubicBezTo>
                  <a:cubicBezTo>
                    <a:pt x="0" y="10"/>
                    <a:pt x="1" y="8"/>
                    <a:pt x="3" y="8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5" y="0"/>
                    <a:pt x="57" y="1"/>
                    <a:pt x="58" y="1"/>
                  </a:cubicBezTo>
                  <a:cubicBezTo>
                    <a:pt x="59" y="2"/>
                    <a:pt x="59" y="3"/>
                    <a:pt x="59" y="5"/>
                  </a:cubicBezTo>
                  <a:cubicBezTo>
                    <a:pt x="59" y="6"/>
                    <a:pt x="59" y="48"/>
                    <a:pt x="31" y="52"/>
                  </a:cubicBezTo>
                  <a:cubicBezTo>
                    <a:pt x="30" y="52"/>
                    <a:pt x="29" y="52"/>
                    <a:pt x="27" y="52"/>
                  </a:cubicBezTo>
                  <a:close/>
                  <a:moveTo>
                    <a:pt x="8" y="16"/>
                  </a:moveTo>
                  <a:cubicBezTo>
                    <a:pt x="9" y="22"/>
                    <a:pt x="12" y="35"/>
                    <a:pt x="19" y="41"/>
                  </a:cubicBezTo>
                  <a:cubicBezTo>
                    <a:pt x="22" y="43"/>
                    <a:pt x="25" y="44"/>
                    <a:pt x="30" y="43"/>
                  </a:cubicBezTo>
                  <a:cubicBezTo>
                    <a:pt x="46" y="41"/>
                    <a:pt x="50" y="19"/>
                    <a:pt x="50" y="9"/>
                  </a:cubicBezTo>
                  <a:lnTo>
                    <a:pt x="8" y="16"/>
                  </a:ln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5" name="Freeform 56"/>
            <p:cNvSpPr>
              <a:spLocks/>
            </p:cNvSpPr>
            <p:nvPr/>
          </p:nvSpPr>
          <p:spPr bwMode="auto">
            <a:xfrm>
              <a:off x="-2417830" y="5601893"/>
              <a:ext cx="1366838" cy="1177925"/>
            </a:xfrm>
            <a:custGeom>
              <a:avLst/>
              <a:gdLst>
                <a:gd name="T0" fmla="*/ 5 w 1009"/>
                <a:gd name="T1" fmla="*/ 455 h 868"/>
                <a:gd name="T2" fmla="*/ 107 w 1009"/>
                <a:gd name="T3" fmla="*/ 268 h 868"/>
                <a:gd name="T4" fmla="*/ 123 w 1009"/>
                <a:gd name="T5" fmla="*/ 245 h 868"/>
                <a:gd name="T6" fmla="*/ 123 w 1009"/>
                <a:gd name="T7" fmla="*/ 224 h 868"/>
                <a:gd name="T8" fmla="*/ 114 w 1009"/>
                <a:gd name="T9" fmla="*/ 187 h 868"/>
                <a:gd name="T10" fmla="*/ 124 w 1009"/>
                <a:gd name="T11" fmla="*/ 86 h 868"/>
                <a:gd name="T12" fmla="*/ 280 w 1009"/>
                <a:gd name="T13" fmla="*/ 10 h 868"/>
                <a:gd name="T14" fmla="*/ 386 w 1009"/>
                <a:gd name="T15" fmla="*/ 97 h 868"/>
                <a:gd name="T16" fmla="*/ 469 w 1009"/>
                <a:gd name="T17" fmla="*/ 116 h 868"/>
                <a:gd name="T18" fmla="*/ 575 w 1009"/>
                <a:gd name="T19" fmla="*/ 115 h 868"/>
                <a:gd name="T20" fmla="*/ 680 w 1009"/>
                <a:gd name="T21" fmla="*/ 144 h 868"/>
                <a:gd name="T22" fmla="*/ 685 w 1009"/>
                <a:gd name="T23" fmla="*/ 146 h 868"/>
                <a:gd name="T24" fmla="*/ 734 w 1009"/>
                <a:gd name="T25" fmla="*/ 122 h 868"/>
                <a:gd name="T26" fmla="*/ 738 w 1009"/>
                <a:gd name="T27" fmla="*/ 109 h 868"/>
                <a:gd name="T28" fmla="*/ 807 w 1009"/>
                <a:gd name="T29" fmla="*/ 48 h 868"/>
                <a:gd name="T30" fmla="*/ 916 w 1009"/>
                <a:gd name="T31" fmla="*/ 77 h 868"/>
                <a:gd name="T32" fmla="*/ 950 w 1009"/>
                <a:gd name="T33" fmla="*/ 187 h 868"/>
                <a:gd name="T34" fmla="*/ 937 w 1009"/>
                <a:gd name="T35" fmla="*/ 228 h 868"/>
                <a:gd name="T36" fmla="*/ 943 w 1009"/>
                <a:gd name="T37" fmla="*/ 279 h 868"/>
                <a:gd name="T38" fmla="*/ 1008 w 1009"/>
                <a:gd name="T39" fmla="*/ 500 h 868"/>
                <a:gd name="T40" fmla="*/ 965 w 1009"/>
                <a:gd name="T41" fmla="*/ 673 h 868"/>
                <a:gd name="T42" fmla="*/ 778 w 1009"/>
                <a:gd name="T43" fmla="*/ 819 h 868"/>
                <a:gd name="T44" fmla="*/ 733 w 1009"/>
                <a:gd name="T45" fmla="*/ 832 h 868"/>
                <a:gd name="T46" fmla="*/ 468 w 1009"/>
                <a:gd name="T47" fmla="*/ 863 h 868"/>
                <a:gd name="T48" fmla="*/ 235 w 1009"/>
                <a:gd name="T49" fmla="*/ 825 h 868"/>
                <a:gd name="T50" fmla="*/ 51 w 1009"/>
                <a:gd name="T51" fmla="*/ 685 h 868"/>
                <a:gd name="T52" fmla="*/ 5 w 1009"/>
                <a:gd name="T53" fmla="*/ 455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9" h="868">
                  <a:moveTo>
                    <a:pt x="5" y="455"/>
                  </a:moveTo>
                  <a:cubicBezTo>
                    <a:pt x="28" y="340"/>
                    <a:pt x="89" y="283"/>
                    <a:pt x="107" y="268"/>
                  </a:cubicBezTo>
                  <a:cubicBezTo>
                    <a:pt x="114" y="262"/>
                    <a:pt x="120" y="254"/>
                    <a:pt x="123" y="245"/>
                  </a:cubicBezTo>
                  <a:cubicBezTo>
                    <a:pt x="124" y="239"/>
                    <a:pt x="125" y="232"/>
                    <a:pt x="123" y="224"/>
                  </a:cubicBezTo>
                  <a:cubicBezTo>
                    <a:pt x="120" y="212"/>
                    <a:pt x="116" y="199"/>
                    <a:pt x="114" y="187"/>
                  </a:cubicBezTo>
                  <a:cubicBezTo>
                    <a:pt x="109" y="149"/>
                    <a:pt x="107" y="114"/>
                    <a:pt x="124" y="86"/>
                  </a:cubicBezTo>
                  <a:cubicBezTo>
                    <a:pt x="152" y="37"/>
                    <a:pt x="211" y="0"/>
                    <a:pt x="280" y="10"/>
                  </a:cubicBezTo>
                  <a:cubicBezTo>
                    <a:pt x="348" y="19"/>
                    <a:pt x="370" y="59"/>
                    <a:pt x="386" y="97"/>
                  </a:cubicBezTo>
                  <a:cubicBezTo>
                    <a:pt x="401" y="136"/>
                    <a:pt x="428" y="122"/>
                    <a:pt x="469" y="116"/>
                  </a:cubicBezTo>
                  <a:cubicBezTo>
                    <a:pt x="510" y="110"/>
                    <a:pt x="562" y="114"/>
                    <a:pt x="575" y="115"/>
                  </a:cubicBezTo>
                  <a:cubicBezTo>
                    <a:pt x="589" y="116"/>
                    <a:pt x="660" y="136"/>
                    <a:pt x="680" y="144"/>
                  </a:cubicBezTo>
                  <a:cubicBezTo>
                    <a:pt x="682" y="144"/>
                    <a:pt x="684" y="145"/>
                    <a:pt x="685" y="146"/>
                  </a:cubicBezTo>
                  <a:cubicBezTo>
                    <a:pt x="705" y="154"/>
                    <a:pt x="728" y="143"/>
                    <a:pt x="734" y="122"/>
                  </a:cubicBezTo>
                  <a:cubicBezTo>
                    <a:pt x="738" y="109"/>
                    <a:pt x="738" y="109"/>
                    <a:pt x="738" y="109"/>
                  </a:cubicBezTo>
                  <a:cubicBezTo>
                    <a:pt x="746" y="81"/>
                    <a:pt x="774" y="57"/>
                    <a:pt x="807" y="48"/>
                  </a:cubicBezTo>
                  <a:cubicBezTo>
                    <a:pt x="840" y="38"/>
                    <a:pt x="883" y="48"/>
                    <a:pt x="916" y="77"/>
                  </a:cubicBezTo>
                  <a:cubicBezTo>
                    <a:pt x="947" y="105"/>
                    <a:pt x="957" y="154"/>
                    <a:pt x="950" y="187"/>
                  </a:cubicBezTo>
                  <a:cubicBezTo>
                    <a:pt x="947" y="201"/>
                    <a:pt x="944" y="216"/>
                    <a:pt x="937" y="228"/>
                  </a:cubicBezTo>
                  <a:cubicBezTo>
                    <a:pt x="928" y="244"/>
                    <a:pt x="931" y="265"/>
                    <a:pt x="943" y="279"/>
                  </a:cubicBezTo>
                  <a:cubicBezTo>
                    <a:pt x="997" y="345"/>
                    <a:pt x="1007" y="440"/>
                    <a:pt x="1008" y="500"/>
                  </a:cubicBezTo>
                  <a:cubicBezTo>
                    <a:pt x="1009" y="547"/>
                    <a:pt x="996" y="616"/>
                    <a:pt x="965" y="673"/>
                  </a:cubicBezTo>
                  <a:cubicBezTo>
                    <a:pt x="925" y="747"/>
                    <a:pt x="835" y="804"/>
                    <a:pt x="778" y="819"/>
                  </a:cubicBezTo>
                  <a:cubicBezTo>
                    <a:pt x="771" y="821"/>
                    <a:pt x="733" y="832"/>
                    <a:pt x="733" y="832"/>
                  </a:cubicBezTo>
                  <a:cubicBezTo>
                    <a:pt x="733" y="832"/>
                    <a:pt x="579" y="859"/>
                    <a:pt x="468" y="863"/>
                  </a:cubicBezTo>
                  <a:cubicBezTo>
                    <a:pt x="357" y="868"/>
                    <a:pt x="235" y="825"/>
                    <a:pt x="235" y="825"/>
                  </a:cubicBezTo>
                  <a:cubicBezTo>
                    <a:pt x="235" y="825"/>
                    <a:pt x="115" y="781"/>
                    <a:pt x="51" y="685"/>
                  </a:cubicBezTo>
                  <a:cubicBezTo>
                    <a:pt x="0" y="609"/>
                    <a:pt x="0" y="481"/>
                    <a:pt x="5" y="4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6" name="Freeform 57"/>
            <p:cNvSpPr>
              <a:spLocks noEditPoints="1"/>
            </p:cNvSpPr>
            <p:nvPr/>
          </p:nvSpPr>
          <p:spPr bwMode="auto">
            <a:xfrm>
              <a:off x="-2424180" y="5598718"/>
              <a:ext cx="1379538" cy="1181100"/>
            </a:xfrm>
            <a:custGeom>
              <a:avLst/>
              <a:gdLst>
                <a:gd name="T0" fmla="*/ 239 w 1018"/>
                <a:gd name="T1" fmla="*/ 832 h 871"/>
                <a:gd name="T2" fmla="*/ 6 w 1018"/>
                <a:gd name="T3" fmla="*/ 457 h 871"/>
                <a:gd name="T4" fmla="*/ 124 w 1018"/>
                <a:gd name="T5" fmla="*/ 247 h 871"/>
                <a:gd name="T6" fmla="*/ 121 w 1018"/>
                <a:gd name="T7" fmla="*/ 218 h 871"/>
                <a:gd name="T8" fmla="*/ 125 w 1018"/>
                <a:gd name="T9" fmla="*/ 87 h 871"/>
                <a:gd name="T10" fmla="*/ 394 w 1018"/>
                <a:gd name="T11" fmla="*/ 99 h 871"/>
                <a:gd name="T12" fmla="*/ 473 w 1018"/>
                <a:gd name="T13" fmla="*/ 115 h 871"/>
                <a:gd name="T14" fmla="*/ 687 w 1018"/>
                <a:gd name="T15" fmla="*/ 143 h 871"/>
                <a:gd name="T16" fmla="*/ 718 w 1018"/>
                <a:gd name="T17" fmla="*/ 144 h 871"/>
                <a:gd name="T18" fmla="*/ 739 w 1018"/>
                <a:gd name="T19" fmla="*/ 111 h 871"/>
                <a:gd name="T20" fmla="*/ 923 w 1018"/>
                <a:gd name="T21" fmla="*/ 77 h 871"/>
                <a:gd name="T22" fmla="*/ 946 w 1018"/>
                <a:gd name="T23" fmla="*/ 233 h 871"/>
                <a:gd name="T24" fmla="*/ 1017 w 1018"/>
                <a:gd name="T25" fmla="*/ 503 h 871"/>
                <a:gd name="T26" fmla="*/ 784 w 1018"/>
                <a:gd name="T27" fmla="*/ 826 h 871"/>
                <a:gd name="T28" fmla="*/ 738 w 1018"/>
                <a:gd name="T29" fmla="*/ 839 h 871"/>
                <a:gd name="T30" fmla="*/ 458 w 1018"/>
                <a:gd name="T31" fmla="*/ 871 h 871"/>
                <a:gd name="T32" fmla="*/ 132 w 1018"/>
                <a:gd name="T33" fmla="*/ 91 h 871"/>
                <a:gd name="T34" fmla="*/ 129 w 1018"/>
                <a:gd name="T35" fmla="*/ 216 h 871"/>
                <a:gd name="T36" fmla="*/ 132 w 1018"/>
                <a:gd name="T37" fmla="*/ 249 h 871"/>
                <a:gd name="T38" fmla="*/ 15 w 1018"/>
                <a:gd name="T39" fmla="*/ 459 h 871"/>
                <a:gd name="T40" fmla="*/ 59 w 1018"/>
                <a:gd name="T41" fmla="*/ 686 h 871"/>
                <a:gd name="T42" fmla="*/ 473 w 1018"/>
                <a:gd name="T43" fmla="*/ 862 h 871"/>
                <a:gd name="T44" fmla="*/ 782 w 1018"/>
                <a:gd name="T45" fmla="*/ 818 h 871"/>
                <a:gd name="T46" fmla="*/ 1009 w 1018"/>
                <a:gd name="T47" fmla="*/ 503 h 871"/>
                <a:gd name="T48" fmla="*/ 939 w 1018"/>
                <a:gd name="T49" fmla="*/ 229 h 871"/>
                <a:gd name="T50" fmla="*/ 918 w 1018"/>
                <a:gd name="T51" fmla="*/ 83 h 871"/>
                <a:gd name="T52" fmla="*/ 747 w 1018"/>
                <a:gd name="T53" fmla="*/ 114 h 871"/>
                <a:gd name="T54" fmla="*/ 722 w 1018"/>
                <a:gd name="T55" fmla="*/ 151 h 871"/>
                <a:gd name="T56" fmla="*/ 684 w 1018"/>
                <a:gd name="T57" fmla="*/ 151 h 871"/>
                <a:gd name="T58" fmla="*/ 475 w 1018"/>
                <a:gd name="T59" fmla="*/ 123 h 871"/>
                <a:gd name="T60" fmla="*/ 387 w 1018"/>
                <a:gd name="T61" fmla="*/ 102 h 871"/>
                <a:gd name="T62" fmla="*/ 263 w 1018"/>
                <a:gd name="T63" fmla="*/ 15 h 871"/>
                <a:gd name="T64" fmla="*/ 10 w 1018"/>
                <a:gd name="T65" fmla="*/ 458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18" h="871">
                  <a:moveTo>
                    <a:pt x="458" y="871"/>
                  </a:moveTo>
                  <a:cubicBezTo>
                    <a:pt x="352" y="871"/>
                    <a:pt x="240" y="833"/>
                    <a:pt x="239" y="832"/>
                  </a:cubicBezTo>
                  <a:cubicBezTo>
                    <a:pt x="237" y="832"/>
                    <a:pt x="117" y="787"/>
                    <a:pt x="52" y="690"/>
                  </a:cubicBezTo>
                  <a:cubicBezTo>
                    <a:pt x="3" y="616"/>
                    <a:pt x="0" y="488"/>
                    <a:pt x="6" y="457"/>
                  </a:cubicBezTo>
                  <a:cubicBezTo>
                    <a:pt x="29" y="341"/>
                    <a:pt x="91" y="283"/>
                    <a:pt x="109" y="268"/>
                  </a:cubicBezTo>
                  <a:cubicBezTo>
                    <a:pt x="117" y="262"/>
                    <a:pt x="122" y="255"/>
                    <a:pt x="124" y="247"/>
                  </a:cubicBezTo>
                  <a:cubicBezTo>
                    <a:pt x="125" y="241"/>
                    <a:pt x="126" y="234"/>
                    <a:pt x="124" y="228"/>
                  </a:cubicBezTo>
                  <a:cubicBezTo>
                    <a:pt x="123" y="224"/>
                    <a:pt x="122" y="221"/>
                    <a:pt x="121" y="218"/>
                  </a:cubicBezTo>
                  <a:cubicBezTo>
                    <a:pt x="119" y="209"/>
                    <a:pt x="116" y="199"/>
                    <a:pt x="115" y="190"/>
                  </a:cubicBezTo>
                  <a:cubicBezTo>
                    <a:pt x="110" y="154"/>
                    <a:pt x="107" y="117"/>
                    <a:pt x="125" y="87"/>
                  </a:cubicBezTo>
                  <a:cubicBezTo>
                    <a:pt x="158" y="30"/>
                    <a:pt x="221" y="0"/>
                    <a:pt x="285" y="9"/>
                  </a:cubicBezTo>
                  <a:cubicBezTo>
                    <a:pt x="356" y="18"/>
                    <a:pt x="379" y="60"/>
                    <a:pt x="394" y="99"/>
                  </a:cubicBezTo>
                  <a:cubicBezTo>
                    <a:pt x="406" y="127"/>
                    <a:pt x="424" y="124"/>
                    <a:pt x="453" y="118"/>
                  </a:cubicBezTo>
                  <a:cubicBezTo>
                    <a:pt x="459" y="117"/>
                    <a:pt x="466" y="116"/>
                    <a:pt x="473" y="115"/>
                  </a:cubicBezTo>
                  <a:cubicBezTo>
                    <a:pt x="516" y="109"/>
                    <a:pt x="570" y="113"/>
                    <a:pt x="581" y="114"/>
                  </a:cubicBezTo>
                  <a:cubicBezTo>
                    <a:pt x="595" y="115"/>
                    <a:pt x="667" y="135"/>
                    <a:pt x="687" y="143"/>
                  </a:cubicBezTo>
                  <a:cubicBezTo>
                    <a:pt x="689" y="143"/>
                    <a:pt x="690" y="144"/>
                    <a:pt x="692" y="145"/>
                  </a:cubicBezTo>
                  <a:cubicBezTo>
                    <a:pt x="700" y="148"/>
                    <a:pt x="710" y="148"/>
                    <a:pt x="718" y="144"/>
                  </a:cubicBezTo>
                  <a:cubicBezTo>
                    <a:pt x="726" y="140"/>
                    <a:pt x="733" y="132"/>
                    <a:pt x="735" y="124"/>
                  </a:cubicBezTo>
                  <a:cubicBezTo>
                    <a:pt x="739" y="111"/>
                    <a:pt x="739" y="111"/>
                    <a:pt x="739" y="111"/>
                  </a:cubicBezTo>
                  <a:cubicBezTo>
                    <a:pt x="748" y="82"/>
                    <a:pt x="776" y="57"/>
                    <a:pt x="811" y="47"/>
                  </a:cubicBezTo>
                  <a:cubicBezTo>
                    <a:pt x="847" y="36"/>
                    <a:pt x="892" y="48"/>
                    <a:pt x="923" y="77"/>
                  </a:cubicBezTo>
                  <a:cubicBezTo>
                    <a:pt x="957" y="106"/>
                    <a:pt x="967" y="157"/>
                    <a:pt x="959" y="191"/>
                  </a:cubicBezTo>
                  <a:cubicBezTo>
                    <a:pt x="957" y="204"/>
                    <a:pt x="953" y="220"/>
                    <a:pt x="946" y="233"/>
                  </a:cubicBezTo>
                  <a:cubicBezTo>
                    <a:pt x="938" y="247"/>
                    <a:pt x="940" y="266"/>
                    <a:pt x="951" y="279"/>
                  </a:cubicBezTo>
                  <a:cubicBezTo>
                    <a:pt x="1004" y="344"/>
                    <a:pt x="1016" y="437"/>
                    <a:pt x="1017" y="503"/>
                  </a:cubicBezTo>
                  <a:cubicBezTo>
                    <a:pt x="1018" y="546"/>
                    <a:pt x="1007" y="617"/>
                    <a:pt x="974" y="678"/>
                  </a:cubicBezTo>
                  <a:cubicBezTo>
                    <a:pt x="934" y="750"/>
                    <a:pt x="846" y="810"/>
                    <a:pt x="784" y="826"/>
                  </a:cubicBezTo>
                  <a:cubicBezTo>
                    <a:pt x="777" y="828"/>
                    <a:pt x="739" y="838"/>
                    <a:pt x="739" y="839"/>
                  </a:cubicBezTo>
                  <a:cubicBezTo>
                    <a:pt x="739" y="839"/>
                    <a:pt x="738" y="839"/>
                    <a:pt x="738" y="839"/>
                  </a:cubicBezTo>
                  <a:cubicBezTo>
                    <a:pt x="737" y="839"/>
                    <a:pt x="583" y="866"/>
                    <a:pt x="473" y="871"/>
                  </a:cubicBezTo>
                  <a:cubicBezTo>
                    <a:pt x="468" y="871"/>
                    <a:pt x="463" y="871"/>
                    <a:pt x="458" y="871"/>
                  </a:cubicBezTo>
                  <a:close/>
                  <a:moveTo>
                    <a:pt x="263" y="15"/>
                  </a:moveTo>
                  <a:cubicBezTo>
                    <a:pt x="210" y="15"/>
                    <a:pt x="160" y="43"/>
                    <a:pt x="132" y="91"/>
                  </a:cubicBezTo>
                  <a:cubicBezTo>
                    <a:pt x="116" y="119"/>
                    <a:pt x="118" y="155"/>
                    <a:pt x="123" y="189"/>
                  </a:cubicBezTo>
                  <a:cubicBezTo>
                    <a:pt x="125" y="198"/>
                    <a:pt x="127" y="207"/>
                    <a:pt x="129" y="216"/>
                  </a:cubicBezTo>
                  <a:cubicBezTo>
                    <a:pt x="130" y="219"/>
                    <a:pt x="131" y="222"/>
                    <a:pt x="132" y="226"/>
                  </a:cubicBezTo>
                  <a:cubicBezTo>
                    <a:pt x="134" y="233"/>
                    <a:pt x="134" y="241"/>
                    <a:pt x="132" y="249"/>
                  </a:cubicBezTo>
                  <a:cubicBezTo>
                    <a:pt x="129" y="259"/>
                    <a:pt x="123" y="268"/>
                    <a:pt x="115" y="275"/>
                  </a:cubicBezTo>
                  <a:cubicBezTo>
                    <a:pt x="97" y="289"/>
                    <a:pt x="37" y="345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0" y="481"/>
                    <a:pt x="8" y="609"/>
                    <a:pt x="59" y="686"/>
                  </a:cubicBezTo>
                  <a:cubicBezTo>
                    <a:pt x="122" y="780"/>
                    <a:pt x="240" y="824"/>
                    <a:pt x="242" y="824"/>
                  </a:cubicBezTo>
                  <a:cubicBezTo>
                    <a:pt x="243" y="825"/>
                    <a:pt x="364" y="866"/>
                    <a:pt x="473" y="862"/>
                  </a:cubicBezTo>
                  <a:cubicBezTo>
                    <a:pt x="581" y="858"/>
                    <a:pt x="730" y="832"/>
                    <a:pt x="737" y="830"/>
                  </a:cubicBezTo>
                  <a:cubicBezTo>
                    <a:pt x="740" y="830"/>
                    <a:pt x="775" y="820"/>
                    <a:pt x="782" y="818"/>
                  </a:cubicBezTo>
                  <a:cubicBezTo>
                    <a:pt x="842" y="803"/>
                    <a:pt x="928" y="744"/>
                    <a:pt x="967" y="674"/>
                  </a:cubicBezTo>
                  <a:cubicBezTo>
                    <a:pt x="999" y="615"/>
                    <a:pt x="1009" y="545"/>
                    <a:pt x="1009" y="503"/>
                  </a:cubicBezTo>
                  <a:cubicBezTo>
                    <a:pt x="1008" y="438"/>
                    <a:pt x="996" y="348"/>
                    <a:pt x="945" y="285"/>
                  </a:cubicBezTo>
                  <a:cubicBezTo>
                    <a:pt x="931" y="269"/>
                    <a:pt x="929" y="246"/>
                    <a:pt x="939" y="229"/>
                  </a:cubicBezTo>
                  <a:cubicBezTo>
                    <a:pt x="945" y="217"/>
                    <a:pt x="949" y="202"/>
                    <a:pt x="951" y="189"/>
                  </a:cubicBezTo>
                  <a:cubicBezTo>
                    <a:pt x="958" y="157"/>
                    <a:pt x="949" y="110"/>
                    <a:pt x="918" y="83"/>
                  </a:cubicBezTo>
                  <a:cubicBezTo>
                    <a:pt x="888" y="56"/>
                    <a:pt x="847" y="45"/>
                    <a:pt x="813" y="55"/>
                  </a:cubicBezTo>
                  <a:cubicBezTo>
                    <a:pt x="781" y="64"/>
                    <a:pt x="755" y="87"/>
                    <a:pt x="747" y="114"/>
                  </a:cubicBezTo>
                  <a:cubicBezTo>
                    <a:pt x="743" y="126"/>
                    <a:pt x="743" y="126"/>
                    <a:pt x="743" y="126"/>
                  </a:cubicBezTo>
                  <a:cubicBezTo>
                    <a:pt x="740" y="137"/>
                    <a:pt x="732" y="146"/>
                    <a:pt x="722" y="151"/>
                  </a:cubicBezTo>
                  <a:cubicBezTo>
                    <a:pt x="711" y="156"/>
                    <a:pt x="699" y="157"/>
                    <a:pt x="689" y="152"/>
                  </a:cubicBezTo>
                  <a:cubicBezTo>
                    <a:pt x="687" y="152"/>
                    <a:pt x="686" y="151"/>
                    <a:pt x="684" y="151"/>
                  </a:cubicBezTo>
                  <a:cubicBezTo>
                    <a:pt x="663" y="143"/>
                    <a:pt x="592" y="123"/>
                    <a:pt x="580" y="122"/>
                  </a:cubicBezTo>
                  <a:cubicBezTo>
                    <a:pt x="574" y="122"/>
                    <a:pt x="517" y="117"/>
                    <a:pt x="475" y="123"/>
                  </a:cubicBezTo>
                  <a:cubicBezTo>
                    <a:pt x="467" y="124"/>
                    <a:pt x="461" y="125"/>
                    <a:pt x="454" y="126"/>
                  </a:cubicBezTo>
                  <a:cubicBezTo>
                    <a:pt x="424" y="132"/>
                    <a:pt x="401" y="137"/>
                    <a:pt x="387" y="102"/>
                  </a:cubicBezTo>
                  <a:cubicBezTo>
                    <a:pt x="371" y="64"/>
                    <a:pt x="351" y="26"/>
                    <a:pt x="284" y="17"/>
                  </a:cubicBezTo>
                  <a:cubicBezTo>
                    <a:pt x="277" y="16"/>
                    <a:pt x="270" y="15"/>
                    <a:pt x="263" y="15"/>
                  </a:cubicBezTo>
                  <a:close/>
                  <a:moveTo>
                    <a:pt x="10" y="458"/>
                  </a:moveTo>
                  <a:cubicBezTo>
                    <a:pt x="10" y="458"/>
                    <a:pt x="10" y="458"/>
                    <a:pt x="10" y="458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7" name="Freeform 58"/>
            <p:cNvSpPr>
              <a:spLocks noEditPoints="1"/>
            </p:cNvSpPr>
            <p:nvPr/>
          </p:nvSpPr>
          <p:spPr bwMode="auto">
            <a:xfrm>
              <a:off x="-1830455" y="6338493"/>
              <a:ext cx="269875" cy="179388"/>
            </a:xfrm>
            <a:custGeom>
              <a:avLst/>
              <a:gdLst>
                <a:gd name="T0" fmla="*/ 106 w 199"/>
                <a:gd name="T1" fmla="*/ 132 h 132"/>
                <a:gd name="T2" fmla="*/ 102 w 199"/>
                <a:gd name="T3" fmla="*/ 132 h 132"/>
                <a:gd name="T4" fmla="*/ 99 w 199"/>
                <a:gd name="T5" fmla="*/ 132 h 132"/>
                <a:gd name="T6" fmla="*/ 24 w 199"/>
                <a:gd name="T7" fmla="*/ 114 h 132"/>
                <a:gd name="T8" fmla="*/ 0 w 199"/>
                <a:gd name="T9" fmla="*/ 60 h 132"/>
                <a:gd name="T10" fmla="*/ 35 w 199"/>
                <a:gd name="T11" fmla="*/ 7 h 132"/>
                <a:gd name="T12" fmla="*/ 110 w 199"/>
                <a:gd name="T13" fmla="*/ 1 h 132"/>
                <a:gd name="T14" fmla="*/ 110 w 199"/>
                <a:gd name="T15" fmla="*/ 1 h 132"/>
                <a:gd name="T16" fmla="*/ 169 w 199"/>
                <a:gd name="T17" fmla="*/ 19 h 132"/>
                <a:gd name="T18" fmla="*/ 193 w 199"/>
                <a:gd name="T19" fmla="*/ 83 h 132"/>
                <a:gd name="T20" fmla="*/ 106 w 199"/>
                <a:gd name="T21" fmla="*/ 132 h 132"/>
                <a:gd name="T22" fmla="*/ 102 w 199"/>
                <a:gd name="T23" fmla="*/ 9 h 132"/>
                <a:gd name="T24" fmla="*/ 38 w 199"/>
                <a:gd name="T25" fmla="*/ 15 h 132"/>
                <a:gd name="T26" fmla="*/ 8 w 199"/>
                <a:gd name="T27" fmla="*/ 61 h 132"/>
                <a:gd name="T28" fmla="*/ 29 w 199"/>
                <a:gd name="T29" fmla="*/ 107 h 132"/>
                <a:gd name="T30" fmla="*/ 99 w 199"/>
                <a:gd name="T31" fmla="*/ 124 h 132"/>
                <a:gd name="T32" fmla="*/ 102 w 199"/>
                <a:gd name="T33" fmla="*/ 124 h 132"/>
                <a:gd name="T34" fmla="*/ 185 w 199"/>
                <a:gd name="T35" fmla="*/ 82 h 132"/>
                <a:gd name="T36" fmla="*/ 164 w 199"/>
                <a:gd name="T37" fmla="*/ 25 h 132"/>
                <a:gd name="T38" fmla="*/ 110 w 199"/>
                <a:gd name="T39" fmla="*/ 9 h 132"/>
                <a:gd name="T40" fmla="*/ 102 w 199"/>
                <a:gd name="T41" fmla="*/ 9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9" h="132">
                  <a:moveTo>
                    <a:pt x="106" y="132"/>
                  </a:moveTo>
                  <a:cubicBezTo>
                    <a:pt x="105" y="132"/>
                    <a:pt x="103" y="132"/>
                    <a:pt x="102" y="132"/>
                  </a:cubicBezTo>
                  <a:cubicBezTo>
                    <a:pt x="99" y="132"/>
                    <a:pt x="99" y="132"/>
                    <a:pt x="99" y="132"/>
                  </a:cubicBezTo>
                  <a:cubicBezTo>
                    <a:pt x="69" y="131"/>
                    <a:pt x="49" y="131"/>
                    <a:pt x="24" y="114"/>
                  </a:cubicBezTo>
                  <a:cubicBezTo>
                    <a:pt x="3" y="99"/>
                    <a:pt x="0" y="74"/>
                    <a:pt x="0" y="60"/>
                  </a:cubicBezTo>
                  <a:cubicBezTo>
                    <a:pt x="1" y="24"/>
                    <a:pt x="27" y="10"/>
                    <a:pt x="35" y="7"/>
                  </a:cubicBezTo>
                  <a:cubicBezTo>
                    <a:pt x="41" y="4"/>
                    <a:pt x="67" y="0"/>
                    <a:pt x="110" y="1"/>
                  </a:cubicBezTo>
                  <a:cubicBezTo>
                    <a:pt x="110" y="1"/>
                    <a:pt x="110" y="1"/>
                    <a:pt x="110" y="1"/>
                  </a:cubicBezTo>
                  <a:cubicBezTo>
                    <a:pt x="111" y="1"/>
                    <a:pt x="147" y="2"/>
                    <a:pt x="169" y="19"/>
                  </a:cubicBezTo>
                  <a:cubicBezTo>
                    <a:pt x="178" y="26"/>
                    <a:pt x="199" y="47"/>
                    <a:pt x="193" y="83"/>
                  </a:cubicBezTo>
                  <a:cubicBezTo>
                    <a:pt x="191" y="100"/>
                    <a:pt x="166" y="132"/>
                    <a:pt x="106" y="132"/>
                  </a:cubicBezTo>
                  <a:close/>
                  <a:moveTo>
                    <a:pt x="102" y="9"/>
                  </a:moveTo>
                  <a:cubicBezTo>
                    <a:pt x="64" y="9"/>
                    <a:pt x="42" y="13"/>
                    <a:pt x="38" y="15"/>
                  </a:cubicBezTo>
                  <a:cubicBezTo>
                    <a:pt x="31" y="17"/>
                    <a:pt x="9" y="29"/>
                    <a:pt x="8" y="61"/>
                  </a:cubicBezTo>
                  <a:cubicBezTo>
                    <a:pt x="8" y="73"/>
                    <a:pt x="11" y="95"/>
                    <a:pt x="29" y="107"/>
                  </a:cubicBezTo>
                  <a:cubicBezTo>
                    <a:pt x="51" y="123"/>
                    <a:pt x="69" y="123"/>
                    <a:pt x="99" y="124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59" y="126"/>
                    <a:pt x="183" y="96"/>
                    <a:pt x="185" y="82"/>
                  </a:cubicBezTo>
                  <a:cubicBezTo>
                    <a:pt x="190" y="50"/>
                    <a:pt x="172" y="32"/>
                    <a:pt x="164" y="25"/>
                  </a:cubicBezTo>
                  <a:cubicBezTo>
                    <a:pt x="145" y="10"/>
                    <a:pt x="110" y="9"/>
                    <a:pt x="110" y="9"/>
                  </a:cubicBezTo>
                  <a:cubicBezTo>
                    <a:pt x="107" y="9"/>
                    <a:pt x="105" y="9"/>
                    <a:pt x="102" y="9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8" name="Freeform 59"/>
            <p:cNvSpPr>
              <a:spLocks/>
            </p:cNvSpPr>
            <p:nvPr/>
          </p:nvSpPr>
          <p:spPr bwMode="auto">
            <a:xfrm>
              <a:off x="-2203518" y="6241655"/>
              <a:ext cx="282575" cy="284163"/>
            </a:xfrm>
            <a:custGeom>
              <a:avLst/>
              <a:gdLst>
                <a:gd name="T0" fmla="*/ 107 w 209"/>
                <a:gd name="T1" fmla="*/ 0 h 210"/>
                <a:gd name="T2" fmla="*/ 180 w 209"/>
                <a:gd name="T3" fmla="*/ 36 h 210"/>
                <a:gd name="T4" fmla="*/ 205 w 209"/>
                <a:gd name="T5" fmla="*/ 139 h 210"/>
                <a:gd name="T6" fmla="*/ 118 w 209"/>
                <a:gd name="T7" fmla="*/ 208 h 210"/>
                <a:gd name="T8" fmla="*/ 18 w 209"/>
                <a:gd name="T9" fmla="*/ 156 h 210"/>
                <a:gd name="T10" fmla="*/ 1 w 209"/>
                <a:gd name="T11" fmla="*/ 90 h 210"/>
                <a:gd name="T12" fmla="*/ 32 w 209"/>
                <a:gd name="T13" fmla="*/ 25 h 210"/>
                <a:gd name="T14" fmla="*/ 107 w 209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9" h="210">
                  <a:moveTo>
                    <a:pt x="107" y="0"/>
                  </a:moveTo>
                  <a:cubicBezTo>
                    <a:pt x="107" y="0"/>
                    <a:pt x="155" y="1"/>
                    <a:pt x="180" y="36"/>
                  </a:cubicBezTo>
                  <a:cubicBezTo>
                    <a:pt x="194" y="56"/>
                    <a:pt x="209" y="108"/>
                    <a:pt x="205" y="139"/>
                  </a:cubicBezTo>
                  <a:cubicBezTo>
                    <a:pt x="201" y="169"/>
                    <a:pt x="176" y="210"/>
                    <a:pt x="118" y="208"/>
                  </a:cubicBezTo>
                  <a:cubicBezTo>
                    <a:pt x="60" y="206"/>
                    <a:pt x="35" y="191"/>
                    <a:pt x="18" y="156"/>
                  </a:cubicBezTo>
                  <a:cubicBezTo>
                    <a:pt x="4" y="128"/>
                    <a:pt x="1" y="101"/>
                    <a:pt x="1" y="90"/>
                  </a:cubicBezTo>
                  <a:cubicBezTo>
                    <a:pt x="0" y="84"/>
                    <a:pt x="9" y="46"/>
                    <a:pt x="32" y="25"/>
                  </a:cubicBezTo>
                  <a:cubicBezTo>
                    <a:pt x="52" y="5"/>
                    <a:pt x="87" y="0"/>
                    <a:pt x="107" y="0"/>
                  </a:cubicBezTo>
                  <a:close/>
                </a:path>
              </a:pathLst>
            </a:custGeom>
            <a:solidFill>
              <a:srgbClr val="E0F2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39" name="Freeform 60"/>
            <p:cNvSpPr>
              <a:spLocks/>
            </p:cNvSpPr>
            <p:nvPr/>
          </p:nvSpPr>
          <p:spPr bwMode="auto">
            <a:xfrm>
              <a:off x="-1497080" y="6232130"/>
              <a:ext cx="287338" cy="290513"/>
            </a:xfrm>
            <a:custGeom>
              <a:avLst/>
              <a:gdLst>
                <a:gd name="T0" fmla="*/ 106 w 212"/>
                <a:gd name="T1" fmla="*/ 5 h 215"/>
                <a:gd name="T2" fmla="*/ 189 w 212"/>
                <a:gd name="T3" fmla="*/ 43 h 215"/>
                <a:gd name="T4" fmla="*/ 209 w 212"/>
                <a:gd name="T5" fmla="*/ 128 h 215"/>
                <a:gd name="T6" fmla="*/ 118 w 212"/>
                <a:gd name="T7" fmla="*/ 213 h 215"/>
                <a:gd name="T8" fmla="*/ 17 w 212"/>
                <a:gd name="T9" fmla="*/ 162 h 215"/>
                <a:gd name="T10" fmla="*/ 0 w 212"/>
                <a:gd name="T11" fmla="*/ 95 h 215"/>
                <a:gd name="T12" fmla="*/ 31 w 212"/>
                <a:gd name="T13" fmla="*/ 30 h 215"/>
                <a:gd name="T14" fmla="*/ 106 w 212"/>
                <a:gd name="T15" fmla="*/ 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2" h="215">
                  <a:moveTo>
                    <a:pt x="106" y="5"/>
                  </a:moveTo>
                  <a:cubicBezTo>
                    <a:pt x="106" y="5"/>
                    <a:pt x="154" y="0"/>
                    <a:pt x="189" y="43"/>
                  </a:cubicBezTo>
                  <a:cubicBezTo>
                    <a:pt x="204" y="63"/>
                    <a:pt x="212" y="97"/>
                    <a:pt x="209" y="128"/>
                  </a:cubicBezTo>
                  <a:cubicBezTo>
                    <a:pt x="205" y="159"/>
                    <a:pt x="176" y="215"/>
                    <a:pt x="118" y="213"/>
                  </a:cubicBezTo>
                  <a:cubicBezTo>
                    <a:pt x="59" y="211"/>
                    <a:pt x="34" y="196"/>
                    <a:pt x="17" y="162"/>
                  </a:cubicBezTo>
                  <a:cubicBezTo>
                    <a:pt x="3" y="133"/>
                    <a:pt x="1" y="106"/>
                    <a:pt x="0" y="95"/>
                  </a:cubicBezTo>
                  <a:cubicBezTo>
                    <a:pt x="0" y="89"/>
                    <a:pt x="8" y="52"/>
                    <a:pt x="31" y="30"/>
                  </a:cubicBezTo>
                  <a:cubicBezTo>
                    <a:pt x="52" y="10"/>
                    <a:pt x="86" y="5"/>
                    <a:pt x="106" y="5"/>
                  </a:cubicBezTo>
                  <a:close/>
                </a:path>
              </a:pathLst>
            </a:custGeom>
            <a:solidFill>
              <a:srgbClr val="E0F2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0" name="Freeform 61"/>
            <p:cNvSpPr>
              <a:spLocks/>
            </p:cNvSpPr>
            <p:nvPr/>
          </p:nvSpPr>
          <p:spPr bwMode="auto">
            <a:xfrm>
              <a:off x="-1757430" y="6294043"/>
              <a:ext cx="106363" cy="82550"/>
            </a:xfrm>
            <a:custGeom>
              <a:avLst/>
              <a:gdLst>
                <a:gd name="T0" fmla="*/ 71 w 78"/>
                <a:gd name="T1" fmla="*/ 17 h 61"/>
                <a:gd name="T2" fmla="*/ 78 w 78"/>
                <a:gd name="T3" fmla="*/ 38 h 61"/>
                <a:gd name="T4" fmla="*/ 73 w 78"/>
                <a:gd name="T5" fmla="*/ 52 h 61"/>
                <a:gd name="T6" fmla="*/ 30 w 78"/>
                <a:gd name="T7" fmla="*/ 59 h 61"/>
                <a:gd name="T8" fmla="*/ 2 w 78"/>
                <a:gd name="T9" fmla="*/ 28 h 61"/>
                <a:gd name="T10" fmla="*/ 36 w 78"/>
                <a:gd name="T11" fmla="*/ 0 h 61"/>
                <a:gd name="T12" fmla="*/ 71 w 78"/>
                <a:gd name="T13" fmla="*/ 17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61">
                  <a:moveTo>
                    <a:pt x="71" y="17"/>
                  </a:moveTo>
                  <a:cubicBezTo>
                    <a:pt x="75" y="24"/>
                    <a:pt x="78" y="31"/>
                    <a:pt x="78" y="38"/>
                  </a:cubicBezTo>
                  <a:cubicBezTo>
                    <a:pt x="78" y="43"/>
                    <a:pt x="77" y="48"/>
                    <a:pt x="73" y="52"/>
                  </a:cubicBezTo>
                  <a:cubicBezTo>
                    <a:pt x="64" y="61"/>
                    <a:pt x="40" y="61"/>
                    <a:pt x="30" y="59"/>
                  </a:cubicBezTo>
                  <a:cubicBezTo>
                    <a:pt x="13" y="57"/>
                    <a:pt x="0" y="42"/>
                    <a:pt x="2" y="28"/>
                  </a:cubicBezTo>
                  <a:cubicBezTo>
                    <a:pt x="5" y="11"/>
                    <a:pt x="16" y="0"/>
                    <a:pt x="36" y="0"/>
                  </a:cubicBezTo>
                  <a:cubicBezTo>
                    <a:pt x="53" y="0"/>
                    <a:pt x="63" y="5"/>
                    <a:pt x="71" y="17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2" name="Freeform 62"/>
            <p:cNvSpPr>
              <a:spLocks/>
            </p:cNvSpPr>
            <p:nvPr/>
          </p:nvSpPr>
          <p:spPr bwMode="auto">
            <a:xfrm>
              <a:off x="-1624080" y="6240068"/>
              <a:ext cx="46038" cy="46038"/>
            </a:xfrm>
            <a:custGeom>
              <a:avLst/>
              <a:gdLst>
                <a:gd name="T0" fmla="*/ 3 w 34"/>
                <a:gd name="T1" fmla="*/ 21 h 34"/>
                <a:gd name="T2" fmla="*/ 21 w 34"/>
                <a:gd name="T3" fmla="*/ 31 h 34"/>
                <a:gd name="T4" fmla="*/ 32 w 34"/>
                <a:gd name="T5" fmla="*/ 13 h 34"/>
                <a:gd name="T6" fmla="*/ 13 w 34"/>
                <a:gd name="T7" fmla="*/ 2 h 34"/>
                <a:gd name="T8" fmla="*/ 3 w 34"/>
                <a:gd name="T9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3" y="21"/>
                  </a:moveTo>
                  <a:cubicBezTo>
                    <a:pt x="5" y="29"/>
                    <a:pt x="13" y="34"/>
                    <a:pt x="21" y="31"/>
                  </a:cubicBezTo>
                  <a:cubicBezTo>
                    <a:pt x="29" y="29"/>
                    <a:pt x="34" y="21"/>
                    <a:pt x="32" y="13"/>
                  </a:cubicBezTo>
                  <a:cubicBezTo>
                    <a:pt x="29" y="5"/>
                    <a:pt x="21" y="0"/>
                    <a:pt x="13" y="2"/>
                  </a:cubicBezTo>
                  <a:cubicBezTo>
                    <a:pt x="5" y="5"/>
                    <a:pt x="0" y="13"/>
                    <a:pt x="3" y="21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3" name="Freeform 63"/>
            <p:cNvSpPr>
              <a:spLocks/>
            </p:cNvSpPr>
            <p:nvPr/>
          </p:nvSpPr>
          <p:spPr bwMode="auto">
            <a:xfrm>
              <a:off x="-1812993" y="6243243"/>
              <a:ext cx="46038" cy="46038"/>
            </a:xfrm>
            <a:custGeom>
              <a:avLst/>
              <a:gdLst>
                <a:gd name="T0" fmla="*/ 2 w 34"/>
                <a:gd name="T1" fmla="*/ 22 h 34"/>
                <a:gd name="T2" fmla="*/ 21 w 34"/>
                <a:gd name="T3" fmla="*/ 32 h 34"/>
                <a:gd name="T4" fmla="*/ 31 w 34"/>
                <a:gd name="T5" fmla="*/ 13 h 34"/>
                <a:gd name="T6" fmla="*/ 13 w 34"/>
                <a:gd name="T7" fmla="*/ 3 h 34"/>
                <a:gd name="T8" fmla="*/ 2 w 34"/>
                <a:gd name="T9" fmla="*/ 2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2" y="22"/>
                  </a:moveTo>
                  <a:cubicBezTo>
                    <a:pt x="5" y="30"/>
                    <a:pt x="13" y="34"/>
                    <a:pt x="21" y="32"/>
                  </a:cubicBezTo>
                  <a:cubicBezTo>
                    <a:pt x="29" y="29"/>
                    <a:pt x="34" y="21"/>
                    <a:pt x="31" y="13"/>
                  </a:cubicBezTo>
                  <a:cubicBezTo>
                    <a:pt x="29" y="5"/>
                    <a:pt x="21" y="0"/>
                    <a:pt x="13" y="3"/>
                  </a:cubicBezTo>
                  <a:cubicBezTo>
                    <a:pt x="5" y="5"/>
                    <a:pt x="0" y="14"/>
                    <a:pt x="2" y="22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4" name="Freeform 64"/>
            <p:cNvSpPr>
              <a:spLocks/>
            </p:cNvSpPr>
            <p:nvPr/>
          </p:nvSpPr>
          <p:spPr bwMode="auto">
            <a:xfrm>
              <a:off x="-1330393" y="5784455"/>
              <a:ext cx="85725" cy="65088"/>
            </a:xfrm>
            <a:custGeom>
              <a:avLst/>
              <a:gdLst>
                <a:gd name="T0" fmla="*/ 44 w 63"/>
                <a:gd name="T1" fmla="*/ 48 h 48"/>
                <a:gd name="T2" fmla="*/ 4 w 63"/>
                <a:gd name="T3" fmla="*/ 48 h 48"/>
                <a:gd name="T4" fmla="*/ 0 w 63"/>
                <a:gd name="T5" fmla="*/ 44 h 48"/>
                <a:gd name="T6" fmla="*/ 4 w 63"/>
                <a:gd name="T7" fmla="*/ 39 h 48"/>
                <a:gd name="T8" fmla="*/ 36 w 63"/>
                <a:gd name="T9" fmla="*/ 39 h 48"/>
                <a:gd name="T10" fmla="*/ 19 w 63"/>
                <a:gd name="T11" fmla="*/ 13 h 48"/>
                <a:gd name="T12" fmla="*/ 20 w 63"/>
                <a:gd name="T13" fmla="*/ 7 h 48"/>
                <a:gd name="T14" fmla="*/ 58 w 63"/>
                <a:gd name="T15" fmla="*/ 0 h 48"/>
                <a:gd name="T16" fmla="*/ 58 w 63"/>
                <a:gd name="T17" fmla="*/ 0 h 48"/>
                <a:gd name="T18" fmla="*/ 63 w 63"/>
                <a:gd name="T19" fmla="*/ 5 h 48"/>
                <a:gd name="T20" fmla="*/ 58 w 63"/>
                <a:gd name="T21" fmla="*/ 9 h 48"/>
                <a:gd name="T22" fmla="*/ 28 w 63"/>
                <a:gd name="T23" fmla="*/ 12 h 48"/>
                <a:gd name="T24" fmla="*/ 47 w 63"/>
                <a:gd name="T25" fmla="*/ 41 h 48"/>
                <a:gd name="T26" fmla="*/ 48 w 63"/>
                <a:gd name="T27" fmla="*/ 46 h 48"/>
                <a:gd name="T28" fmla="*/ 44 w 63"/>
                <a:gd name="T2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48">
                  <a:moveTo>
                    <a:pt x="44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41"/>
                    <a:pt x="1" y="39"/>
                    <a:pt x="4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1"/>
                    <a:pt x="18" y="9"/>
                    <a:pt x="20" y="7"/>
                  </a:cubicBezTo>
                  <a:cubicBezTo>
                    <a:pt x="28" y="1"/>
                    <a:pt x="53" y="0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ubicBezTo>
                    <a:pt x="63" y="7"/>
                    <a:pt x="61" y="9"/>
                    <a:pt x="58" y="9"/>
                  </a:cubicBezTo>
                  <a:cubicBezTo>
                    <a:pt x="50" y="9"/>
                    <a:pt x="36" y="10"/>
                    <a:pt x="28" y="12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8" y="43"/>
                    <a:pt x="48" y="44"/>
                    <a:pt x="48" y="46"/>
                  </a:cubicBezTo>
                  <a:cubicBezTo>
                    <a:pt x="47" y="47"/>
                    <a:pt x="45" y="48"/>
                    <a:pt x="44" y="48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5" name="Freeform 65"/>
            <p:cNvSpPr>
              <a:spLocks/>
            </p:cNvSpPr>
            <p:nvPr/>
          </p:nvSpPr>
          <p:spPr bwMode="auto">
            <a:xfrm>
              <a:off x="-2130493" y="5730480"/>
              <a:ext cx="73025" cy="120650"/>
            </a:xfrm>
            <a:custGeom>
              <a:avLst/>
              <a:gdLst>
                <a:gd name="T0" fmla="*/ 30 w 54"/>
                <a:gd name="T1" fmla="*/ 89 h 89"/>
                <a:gd name="T2" fmla="*/ 28 w 54"/>
                <a:gd name="T3" fmla="*/ 88 h 89"/>
                <a:gd name="T4" fmla="*/ 26 w 54"/>
                <a:gd name="T5" fmla="*/ 83 h 89"/>
                <a:gd name="T6" fmla="*/ 43 w 54"/>
                <a:gd name="T7" fmla="*/ 50 h 89"/>
                <a:gd name="T8" fmla="*/ 6 w 54"/>
                <a:gd name="T9" fmla="*/ 53 h 89"/>
                <a:gd name="T10" fmla="*/ 2 w 54"/>
                <a:gd name="T11" fmla="*/ 50 h 89"/>
                <a:gd name="T12" fmla="*/ 19 w 54"/>
                <a:gd name="T13" fmla="*/ 2 h 89"/>
                <a:gd name="T14" fmla="*/ 25 w 54"/>
                <a:gd name="T15" fmla="*/ 1 h 89"/>
                <a:gd name="T16" fmla="*/ 27 w 54"/>
                <a:gd name="T17" fmla="*/ 6 h 89"/>
                <a:gd name="T18" fmla="*/ 10 w 54"/>
                <a:gd name="T19" fmla="*/ 45 h 89"/>
                <a:gd name="T20" fmla="*/ 49 w 54"/>
                <a:gd name="T21" fmla="*/ 41 h 89"/>
                <a:gd name="T22" fmla="*/ 53 w 54"/>
                <a:gd name="T23" fmla="*/ 43 h 89"/>
                <a:gd name="T24" fmla="*/ 53 w 54"/>
                <a:gd name="T25" fmla="*/ 47 h 89"/>
                <a:gd name="T26" fmla="*/ 33 w 54"/>
                <a:gd name="T27" fmla="*/ 87 h 89"/>
                <a:gd name="T28" fmla="*/ 30 w 54"/>
                <a:gd name="T2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" h="89">
                  <a:moveTo>
                    <a:pt x="30" y="89"/>
                  </a:moveTo>
                  <a:cubicBezTo>
                    <a:pt x="29" y="89"/>
                    <a:pt x="29" y="89"/>
                    <a:pt x="28" y="88"/>
                  </a:cubicBezTo>
                  <a:cubicBezTo>
                    <a:pt x="26" y="87"/>
                    <a:pt x="25" y="85"/>
                    <a:pt x="26" y="83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4" y="53"/>
                    <a:pt x="2" y="52"/>
                    <a:pt x="2" y="50"/>
                  </a:cubicBezTo>
                  <a:cubicBezTo>
                    <a:pt x="0" y="40"/>
                    <a:pt x="15" y="11"/>
                    <a:pt x="19" y="2"/>
                  </a:cubicBezTo>
                  <a:cubicBezTo>
                    <a:pt x="20" y="0"/>
                    <a:pt x="23" y="0"/>
                    <a:pt x="25" y="1"/>
                  </a:cubicBezTo>
                  <a:cubicBezTo>
                    <a:pt x="27" y="2"/>
                    <a:pt x="28" y="4"/>
                    <a:pt x="27" y="6"/>
                  </a:cubicBezTo>
                  <a:cubicBezTo>
                    <a:pt x="19" y="20"/>
                    <a:pt x="12" y="37"/>
                    <a:pt x="10" y="45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1" y="41"/>
                    <a:pt x="52" y="42"/>
                    <a:pt x="53" y="43"/>
                  </a:cubicBezTo>
                  <a:cubicBezTo>
                    <a:pt x="54" y="44"/>
                    <a:pt x="54" y="46"/>
                    <a:pt x="53" y="47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3" y="88"/>
                    <a:pt x="31" y="89"/>
                    <a:pt x="30" y="89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7" name="Freeform 66"/>
            <p:cNvSpPr>
              <a:spLocks/>
            </p:cNvSpPr>
            <p:nvPr/>
          </p:nvSpPr>
          <p:spPr bwMode="auto">
            <a:xfrm>
              <a:off x="-1525655" y="6859193"/>
              <a:ext cx="42863" cy="63500"/>
            </a:xfrm>
            <a:custGeom>
              <a:avLst/>
              <a:gdLst>
                <a:gd name="T0" fmla="*/ 6 w 32"/>
                <a:gd name="T1" fmla="*/ 46 h 46"/>
                <a:gd name="T2" fmla="*/ 2 w 32"/>
                <a:gd name="T3" fmla="*/ 44 h 46"/>
                <a:gd name="T4" fmla="*/ 4 w 32"/>
                <a:gd name="T5" fmla="*/ 38 h 46"/>
                <a:gd name="T6" fmla="*/ 18 w 32"/>
                <a:gd name="T7" fmla="*/ 31 h 46"/>
                <a:gd name="T8" fmla="*/ 4 w 32"/>
                <a:gd name="T9" fmla="*/ 24 h 46"/>
                <a:gd name="T10" fmla="*/ 0 w 32"/>
                <a:gd name="T11" fmla="*/ 17 h 46"/>
                <a:gd name="T12" fmla="*/ 2 w 32"/>
                <a:gd name="T13" fmla="*/ 13 h 46"/>
                <a:gd name="T14" fmla="*/ 25 w 32"/>
                <a:gd name="T15" fmla="*/ 1 h 46"/>
                <a:gd name="T16" fmla="*/ 30 w 32"/>
                <a:gd name="T17" fmla="*/ 3 h 46"/>
                <a:gd name="T18" fmla="*/ 27 w 32"/>
                <a:gd name="T19" fmla="*/ 8 h 46"/>
                <a:gd name="T20" fmla="*/ 10 w 32"/>
                <a:gd name="T21" fmla="*/ 18 h 46"/>
                <a:gd name="T22" fmla="*/ 29 w 32"/>
                <a:gd name="T23" fmla="*/ 26 h 46"/>
                <a:gd name="T24" fmla="*/ 32 w 32"/>
                <a:gd name="T25" fmla="*/ 30 h 46"/>
                <a:gd name="T26" fmla="*/ 30 w 32"/>
                <a:gd name="T27" fmla="*/ 34 h 46"/>
                <a:gd name="T28" fmla="*/ 7 w 32"/>
                <a:gd name="T29" fmla="*/ 46 h 46"/>
                <a:gd name="T30" fmla="*/ 6 w 32"/>
                <a:gd name="T31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46">
                  <a:moveTo>
                    <a:pt x="6" y="46"/>
                  </a:moveTo>
                  <a:cubicBezTo>
                    <a:pt x="4" y="46"/>
                    <a:pt x="3" y="45"/>
                    <a:pt x="2" y="44"/>
                  </a:cubicBezTo>
                  <a:cubicBezTo>
                    <a:pt x="1" y="42"/>
                    <a:pt x="2" y="39"/>
                    <a:pt x="4" y="38"/>
                  </a:cubicBezTo>
                  <a:cubicBezTo>
                    <a:pt x="8" y="36"/>
                    <a:pt x="13" y="34"/>
                    <a:pt x="18" y="31"/>
                  </a:cubicBezTo>
                  <a:cubicBezTo>
                    <a:pt x="13" y="29"/>
                    <a:pt x="8" y="26"/>
                    <a:pt x="4" y="24"/>
                  </a:cubicBezTo>
                  <a:cubicBezTo>
                    <a:pt x="0" y="22"/>
                    <a:pt x="0" y="18"/>
                    <a:pt x="0" y="17"/>
                  </a:cubicBezTo>
                  <a:cubicBezTo>
                    <a:pt x="0" y="15"/>
                    <a:pt x="2" y="14"/>
                    <a:pt x="2" y="13"/>
                  </a:cubicBezTo>
                  <a:cubicBezTo>
                    <a:pt x="9" y="8"/>
                    <a:pt x="17" y="4"/>
                    <a:pt x="25" y="1"/>
                  </a:cubicBezTo>
                  <a:cubicBezTo>
                    <a:pt x="27" y="0"/>
                    <a:pt x="29" y="1"/>
                    <a:pt x="30" y="3"/>
                  </a:cubicBezTo>
                  <a:cubicBezTo>
                    <a:pt x="31" y="5"/>
                    <a:pt x="30" y="8"/>
                    <a:pt x="27" y="8"/>
                  </a:cubicBezTo>
                  <a:cubicBezTo>
                    <a:pt x="21" y="11"/>
                    <a:pt x="15" y="14"/>
                    <a:pt x="10" y="18"/>
                  </a:cubicBezTo>
                  <a:cubicBezTo>
                    <a:pt x="16" y="21"/>
                    <a:pt x="22" y="24"/>
                    <a:pt x="29" y="26"/>
                  </a:cubicBezTo>
                  <a:cubicBezTo>
                    <a:pt x="30" y="27"/>
                    <a:pt x="31" y="28"/>
                    <a:pt x="32" y="30"/>
                  </a:cubicBezTo>
                  <a:cubicBezTo>
                    <a:pt x="32" y="31"/>
                    <a:pt x="31" y="33"/>
                    <a:pt x="30" y="34"/>
                  </a:cubicBezTo>
                  <a:cubicBezTo>
                    <a:pt x="22" y="38"/>
                    <a:pt x="15" y="42"/>
                    <a:pt x="7" y="46"/>
                  </a:cubicBezTo>
                  <a:cubicBezTo>
                    <a:pt x="7" y="46"/>
                    <a:pt x="6" y="46"/>
                    <a:pt x="6" y="46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8" name="Freeform 67"/>
            <p:cNvSpPr>
              <a:spLocks/>
            </p:cNvSpPr>
            <p:nvPr/>
          </p:nvSpPr>
          <p:spPr bwMode="auto">
            <a:xfrm>
              <a:off x="-1384368" y="6665518"/>
              <a:ext cx="161925" cy="247650"/>
            </a:xfrm>
            <a:custGeom>
              <a:avLst/>
              <a:gdLst>
                <a:gd name="T0" fmla="*/ 119 w 119"/>
                <a:gd name="T1" fmla="*/ 0 h 182"/>
                <a:gd name="T2" fmla="*/ 13 w 119"/>
                <a:gd name="T3" fmla="*/ 182 h 182"/>
                <a:gd name="T4" fmla="*/ 0 w 119"/>
                <a:gd name="T5" fmla="*/ 91 h 182"/>
                <a:gd name="T6" fmla="*/ 119 w 119"/>
                <a:gd name="T7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82">
                  <a:moveTo>
                    <a:pt x="119" y="0"/>
                  </a:moveTo>
                  <a:cubicBezTo>
                    <a:pt x="119" y="0"/>
                    <a:pt x="118" y="144"/>
                    <a:pt x="13" y="182"/>
                  </a:cubicBezTo>
                  <a:cubicBezTo>
                    <a:pt x="0" y="91"/>
                    <a:pt x="0" y="91"/>
                    <a:pt x="0" y="91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49" name="Freeform 68"/>
            <p:cNvSpPr>
              <a:spLocks/>
            </p:cNvSpPr>
            <p:nvPr/>
          </p:nvSpPr>
          <p:spPr bwMode="auto">
            <a:xfrm>
              <a:off x="-1366905" y="6665518"/>
              <a:ext cx="144463" cy="247650"/>
            </a:xfrm>
            <a:custGeom>
              <a:avLst/>
              <a:gdLst>
                <a:gd name="T0" fmla="*/ 106 w 106"/>
                <a:gd name="T1" fmla="*/ 0 h 182"/>
                <a:gd name="T2" fmla="*/ 0 w 106"/>
                <a:gd name="T3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82">
                  <a:moveTo>
                    <a:pt x="106" y="0"/>
                  </a:moveTo>
                  <a:cubicBezTo>
                    <a:pt x="106" y="0"/>
                    <a:pt x="105" y="144"/>
                    <a:pt x="0" y="1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0" name="Freeform 69"/>
            <p:cNvSpPr>
              <a:spLocks/>
            </p:cNvSpPr>
            <p:nvPr/>
          </p:nvSpPr>
          <p:spPr bwMode="auto">
            <a:xfrm>
              <a:off x="-1373255" y="6660755"/>
              <a:ext cx="157163" cy="257175"/>
            </a:xfrm>
            <a:custGeom>
              <a:avLst/>
              <a:gdLst>
                <a:gd name="T0" fmla="*/ 5 w 116"/>
                <a:gd name="T1" fmla="*/ 190 h 190"/>
                <a:gd name="T2" fmla="*/ 1 w 116"/>
                <a:gd name="T3" fmla="*/ 188 h 190"/>
                <a:gd name="T4" fmla="*/ 4 w 116"/>
                <a:gd name="T5" fmla="*/ 182 h 190"/>
                <a:gd name="T6" fmla="*/ 107 w 116"/>
                <a:gd name="T7" fmla="*/ 4 h 190"/>
                <a:gd name="T8" fmla="*/ 111 w 116"/>
                <a:gd name="T9" fmla="*/ 0 h 190"/>
                <a:gd name="T10" fmla="*/ 111 w 116"/>
                <a:gd name="T11" fmla="*/ 0 h 190"/>
                <a:gd name="T12" fmla="*/ 116 w 116"/>
                <a:gd name="T13" fmla="*/ 4 h 190"/>
                <a:gd name="T14" fmla="*/ 6 w 116"/>
                <a:gd name="T15" fmla="*/ 190 h 190"/>
                <a:gd name="T16" fmla="*/ 5 w 116"/>
                <a:gd name="T17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" h="190">
                  <a:moveTo>
                    <a:pt x="5" y="190"/>
                  </a:moveTo>
                  <a:cubicBezTo>
                    <a:pt x="3" y="190"/>
                    <a:pt x="2" y="189"/>
                    <a:pt x="1" y="188"/>
                  </a:cubicBezTo>
                  <a:cubicBezTo>
                    <a:pt x="0" y="185"/>
                    <a:pt x="1" y="183"/>
                    <a:pt x="4" y="182"/>
                  </a:cubicBezTo>
                  <a:cubicBezTo>
                    <a:pt x="105" y="146"/>
                    <a:pt x="107" y="6"/>
                    <a:pt x="107" y="4"/>
                  </a:cubicBezTo>
                  <a:cubicBezTo>
                    <a:pt x="107" y="2"/>
                    <a:pt x="109" y="0"/>
                    <a:pt x="111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6" y="2"/>
                    <a:pt x="116" y="4"/>
                  </a:cubicBezTo>
                  <a:cubicBezTo>
                    <a:pt x="116" y="6"/>
                    <a:pt x="113" y="152"/>
                    <a:pt x="6" y="190"/>
                  </a:cubicBezTo>
                  <a:cubicBezTo>
                    <a:pt x="6" y="190"/>
                    <a:pt x="5" y="190"/>
                    <a:pt x="5" y="190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1" name="Freeform 70"/>
            <p:cNvSpPr>
              <a:spLocks/>
            </p:cNvSpPr>
            <p:nvPr/>
          </p:nvSpPr>
          <p:spPr bwMode="auto">
            <a:xfrm>
              <a:off x="-1360555" y="6424218"/>
              <a:ext cx="142875" cy="134938"/>
            </a:xfrm>
            <a:custGeom>
              <a:avLst/>
              <a:gdLst>
                <a:gd name="T0" fmla="*/ 22 w 106"/>
                <a:gd name="T1" fmla="*/ 76 h 99"/>
                <a:gd name="T2" fmla="*/ 47 w 106"/>
                <a:gd name="T3" fmla="*/ 7 h 99"/>
                <a:gd name="T4" fmla="*/ 106 w 106"/>
                <a:gd name="T5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" h="99">
                  <a:moveTo>
                    <a:pt x="22" y="76"/>
                  </a:moveTo>
                  <a:cubicBezTo>
                    <a:pt x="22" y="71"/>
                    <a:pt x="0" y="13"/>
                    <a:pt x="47" y="7"/>
                  </a:cubicBezTo>
                  <a:cubicBezTo>
                    <a:pt x="94" y="0"/>
                    <a:pt x="106" y="99"/>
                    <a:pt x="106" y="9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2" name="Freeform 71"/>
            <p:cNvSpPr>
              <a:spLocks/>
            </p:cNvSpPr>
            <p:nvPr/>
          </p:nvSpPr>
          <p:spPr bwMode="auto">
            <a:xfrm>
              <a:off x="-1351030" y="6425805"/>
              <a:ext cx="139700" cy="138113"/>
            </a:xfrm>
            <a:custGeom>
              <a:avLst/>
              <a:gdLst>
                <a:gd name="T0" fmla="*/ 99 w 103"/>
                <a:gd name="T1" fmla="*/ 102 h 102"/>
                <a:gd name="T2" fmla="*/ 95 w 103"/>
                <a:gd name="T3" fmla="*/ 98 h 102"/>
                <a:gd name="T4" fmla="*/ 61 w 103"/>
                <a:gd name="T5" fmla="*/ 15 h 102"/>
                <a:gd name="T6" fmla="*/ 41 w 103"/>
                <a:gd name="T7" fmla="*/ 10 h 102"/>
                <a:gd name="T8" fmla="*/ 19 w 103"/>
                <a:gd name="T9" fmla="*/ 22 h 102"/>
                <a:gd name="T10" fmla="*/ 18 w 103"/>
                <a:gd name="T11" fmla="*/ 70 h 102"/>
                <a:gd name="T12" fmla="*/ 19 w 103"/>
                <a:gd name="T13" fmla="*/ 75 h 102"/>
                <a:gd name="T14" fmla="*/ 16 w 103"/>
                <a:gd name="T15" fmla="*/ 79 h 102"/>
                <a:gd name="T16" fmla="*/ 11 w 103"/>
                <a:gd name="T17" fmla="*/ 76 h 102"/>
                <a:gd name="T18" fmla="*/ 10 w 103"/>
                <a:gd name="T19" fmla="*/ 73 h 102"/>
                <a:gd name="T20" fmla="*/ 12 w 103"/>
                <a:gd name="T21" fmla="*/ 17 h 102"/>
                <a:gd name="T22" fmla="*/ 40 w 103"/>
                <a:gd name="T23" fmla="*/ 1 h 102"/>
                <a:gd name="T24" fmla="*/ 66 w 103"/>
                <a:gd name="T25" fmla="*/ 9 h 102"/>
                <a:gd name="T26" fmla="*/ 103 w 103"/>
                <a:gd name="T27" fmla="*/ 97 h 102"/>
                <a:gd name="T28" fmla="*/ 99 w 103"/>
                <a:gd name="T29" fmla="*/ 102 h 102"/>
                <a:gd name="T30" fmla="*/ 99 w 103"/>
                <a:gd name="T31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" h="102">
                  <a:moveTo>
                    <a:pt x="99" y="102"/>
                  </a:moveTo>
                  <a:cubicBezTo>
                    <a:pt x="97" y="102"/>
                    <a:pt x="95" y="100"/>
                    <a:pt x="95" y="98"/>
                  </a:cubicBezTo>
                  <a:cubicBezTo>
                    <a:pt x="95" y="98"/>
                    <a:pt x="87" y="35"/>
                    <a:pt x="61" y="15"/>
                  </a:cubicBezTo>
                  <a:cubicBezTo>
                    <a:pt x="55" y="10"/>
                    <a:pt x="48" y="9"/>
                    <a:pt x="41" y="10"/>
                  </a:cubicBezTo>
                  <a:cubicBezTo>
                    <a:pt x="31" y="11"/>
                    <a:pt x="24" y="15"/>
                    <a:pt x="19" y="22"/>
                  </a:cubicBezTo>
                  <a:cubicBezTo>
                    <a:pt x="9" y="37"/>
                    <a:pt x="16" y="61"/>
                    <a:pt x="18" y="70"/>
                  </a:cubicBezTo>
                  <a:cubicBezTo>
                    <a:pt x="19" y="73"/>
                    <a:pt x="19" y="74"/>
                    <a:pt x="19" y="75"/>
                  </a:cubicBezTo>
                  <a:cubicBezTo>
                    <a:pt x="19" y="77"/>
                    <a:pt x="18" y="79"/>
                    <a:pt x="16" y="79"/>
                  </a:cubicBezTo>
                  <a:cubicBezTo>
                    <a:pt x="13" y="79"/>
                    <a:pt x="11" y="78"/>
                    <a:pt x="11" y="76"/>
                  </a:cubicBezTo>
                  <a:cubicBezTo>
                    <a:pt x="11" y="75"/>
                    <a:pt x="11" y="74"/>
                    <a:pt x="10" y="73"/>
                  </a:cubicBezTo>
                  <a:cubicBezTo>
                    <a:pt x="8" y="62"/>
                    <a:pt x="0" y="35"/>
                    <a:pt x="12" y="17"/>
                  </a:cubicBezTo>
                  <a:cubicBezTo>
                    <a:pt x="18" y="9"/>
                    <a:pt x="27" y="3"/>
                    <a:pt x="40" y="1"/>
                  </a:cubicBezTo>
                  <a:cubicBezTo>
                    <a:pt x="49" y="0"/>
                    <a:pt x="58" y="3"/>
                    <a:pt x="66" y="9"/>
                  </a:cubicBezTo>
                  <a:cubicBezTo>
                    <a:pt x="95" y="31"/>
                    <a:pt x="103" y="95"/>
                    <a:pt x="103" y="97"/>
                  </a:cubicBezTo>
                  <a:cubicBezTo>
                    <a:pt x="103" y="100"/>
                    <a:pt x="102" y="102"/>
                    <a:pt x="99" y="102"/>
                  </a:cubicBezTo>
                  <a:cubicBezTo>
                    <a:pt x="99" y="102"/>
                    <a:pt x="99" y="102"/>
                    <a:pt x="99" y="102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3" name="Freeform 72"/>
            <p:cNvSpPr>
              <a:spLocks/>
            </p:cNvSpPr>
            <p:nvPr/>
          </p:nvSpPr>
          <p:spPr bwMode="auto">
            <a:xfrm>
              <a:off x="-1424055" y="6476605"/>
              <a:ext cx="277813" cy="320675"/>
            </a:xfrm>
            <a:custGeom>
              <a:avLst/>
              <a:gdLst>
                <a:gd name="T0" fmla="*/ 56 w 205"/>
                <a:gd name="T1" fmla="*/ 232 h 237"/>
                <a:gd name="T2" fmla="*/ 0 w 205"/>
                <a:gd name="T3" fmla="*/ 123 h 237"/>
                <a:gd name="T4" fmla="*/ 153 w 205"/>
                <a:gd name="T5" fmla="*/ 39 h 237"/>
                <a:gd name="T6" fmla="*/ 56 w 205"/>
                <a:gd name="T7" fmla="*/ 232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5" h="237">
                  <a:moveTo>
                    <a:pt x="56" y="232"/>
                  </a:moveTo>
                  <a:cubicBezTo>
                    <a:pt x="56" y="232"/>
                    <a:pt x="0" y="235"/>
                    <a:pt x="0" y="123"/>
                  </a:cubicBezTo>
                  <a:cubicBezTo>
                    <a:pt x="0" y="10"/>
                    <a:pt x="123" y="0"/>
                    <a:pt x="153" y="39"/>
                  </a:cubicBezTo>
                  <a:cubicBezTo>
                    <a:pt x="184" y="78"/>
                    <a:pt x="205" y="237"/>
                    <a:pt x="56" y="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4" name="Freeform 73"/>
            <p:cNvSpPr>
              <a:spLocks noEditPoints="1"/>
            </p:cNvSpPr>
            <p:nvPr/>
          </p:nvSpPr>
          <p:spPr bwMode="auto">
            <a:xfrm>
              <a:off x="-1430405" y="6486130"/>
              <a:ext cx="265113" cy="309563"/>
            </a:xfrm>
            <a:custGeom>
              <a:avLst/>
              <a:gdLst>
                <a:gd name="T0" fmla="*/ 68 w 195"/>
                <a:gd name="T1" fmla="*/ 228 h 228"/>
                <a:gd name="T2" fmla="*/ 60 w 195"/>
                <a:gd name="T3" fmla="*/ 228 h 228"/>
                <a:gd name="T4" fmla="*/ 29 w 195"/>
                <a:gd name="T5" fmla="*/ 214 h 228"/>
                <a:gd name="T6" fmla="*/ 0 w 195"/>
                <a:gd name="T7" fmla="*/ 115 h 228"/>
                <a:gd name="T8" fmla="*/ 68 w 195"/>
                <a:gd name="T9" fmla="*/ 12 h 228"/>
                <a:gd name="T10" fmla="*/ 161 w 195"/>
                <a:gd name="T11" fmla="*/ 28 h 228"/>
                <a:gd name="T12" fmla="*/ 170 w 195"/>
                <a:gd name="T13" fmla="*/ 174 h 228"/>
                <a:gd name="T14" fmla="*/ 68 w 195"/>
                <a:gd name="T15" fmla="*/ 228 h 228"/>
                <a:gd name="T16" fmla="*/ 60 w 195"/>
                <a:gd name="T17" fmla="*/ 219 h 228"/>
                <a:gd name="T18" fmla="*/ 61 w 195"/>
                <a:gd name="T19" fmla="*/ 219 h 228"/>
                <a:gd name="T20" fmla="*/ 162 w 195"/>
                <a:gd name="T21" fmla="*/ 171 h 228"/>
                <a:gd name="T22" fmla="*/ 154 w 195"/>
                <a:gd name="T23" fmla="*/ 33 h 228"/>
                <a:gd name="T24" fmla="*/ 71 w 195"/>
                <a:gd name="T25" fmla="*/ 20 h 228"/>
                <a:gd name="T26" fmla="*/ 8 w 195"/>
                <a:gd name="T27" fmla="*/ 115 h 228"/>
                <a:gd name="T28" fmla="*/ 35 w 195"/>
                <a:gd name="T29" fmla="*/ 208 h 228"/>
                <a:gd name="T30" fmla="*/ 60 w 195"/>
                <a:gd name="T31" fmla="*/ 219 h 228"/>
                <a:gd name="T32" fmla="*/ 60 w 195"/>
                <a:gd name="T33" fmla="*/ 2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5" h="228">
                  <a:moveTo>
                    <a:pt x="68" y="228"/>
                  </a:moveTo>
                  <a:cubicBezTo>
                    <a:pt x="66" y="228"/>
                    <a:pt x="63" y="228"/>
                    <a:pt x="60" y="228"/>
                  </a:cubicBezTo>
                  <a:cubicBezTo>
                    <a:pt x="58" y="228"/>
                    <a:pt x="44" y="228"/>
                    <a:pt x="29" y="214"/>
                  </a:cubicBezTo>
                  <a:cubicBezTo>
                    <a:pt x="10" y="196"/>
                    <a:pt x="0" y="162"/>
                    <a:pt x="0" y="115"/>
                  </a:cubicBezTo>
                  <a:cubicBezTo>
                    <a:pt x="0" y="43"/>
                    <a:pt x="48" y="19"/>
                    <a:pt x="68" y="12"/>
                  </a:cubicBezTo>
                  <a:cubicBezTo>
                    <a:pt x="104" y="0"/>
                    <a:pt x="144" y="7"/>
                    <a:pt x="161" y="28"/>
                  </a:cubicBezTo>
                  <a:cubicBezTo>
                    <a:pt x="181" y="55"/>
                    <a:pt x="195" y="125"/>
                    <a:pt x="170" y="174"/>
                  </a:cubicBezTo>
                  <a:cubicBezTo>
                    <a:pt x="157" y="199"/>
                    <a:pt x="129" y="228"/>
                    <a:pt x="68" y="228"/>
                  </a:cubicBezTo>
                  <a:close/>
                  <a:moveTo>
                    <a:pt x="60" y="219"/>
                  </a:moveTo>
                  <a:cubicBezTo>
                    <a:pt x="61" y="219"/>
                    <a:pt x="61" y="219"/>
                    <a:pt x="61" y="219"/>
                  </a:cubicBezTo>
                  <a:cubicBezTo>
                    <a:pt x="110" y="221"/>
                    <a:pt x="145" y="205"/>
                    <a:pt x="162" y="171"/>
                  </a:cubicBezTo>
                  <a:cubicBezTo>
                    <a:pt x="186" y="125"/>
                    <a:pt x="173" y="58"/>
                    <a:pt x="154" y="33"/>
                  </a:cubicBezTo>
                  <a:cubicBezTo>
                    <a:pt x="140" y="15"/>
                    <a:pt x="103" y="9"/>
                    <a:pt x="71" y="20"/>
                  </a:cubicBezTo>
                  <a:cubicBezTo>
                    <a:pt x="52" y="26"/>
                    <a:pt x="8" y="48"/>
                    <a:pt x="8" y="115"/>
                  </a:cubicBezTo>
                  <a:cubicBezTo>
                    <a:pt x="8" y="171"/>
                    <a:pt x="23" y="196"/>
                    <a:pt x="35" y="208"/>
                  </a:cubicBezTo>
                  <a:cubicBezTo>
                    <a:pt x="47" y="220"/>
                    <a:pt x="60" y="219"/>
                    <a:pt x="60" y="219"/>
                  </a:cubicBezTo>
                  <a:cubicBezTo>
                    <a:pt x="60" y="219"/>
                    <a:pt x="60" y="219"/>
                    <a:pt x="60" y="219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5" name="Freeform 74"/>
            <p:cNvSpPr>
              <a:spLocks/>
            </p:cNvSpPr>
            <p:nvPr/>
          </p:nvSpPr>
          <p:spPr bwMode="auto">
            <a:xfrm>
              <a:off x="-1671705" y="6809980"/>
              <a:ext cx="33338" cy="30163"/>
            </a:xfrm>
            <a:custGeom>
              <a:avLst/>
              <a:gdLst>
                <a:gd name="T0" fmla="*/ 21 w 21"/>
                <a:gd name="T1" fmla="*/ 19 h 19"/>
                <a:gd name="T2" fmla="*/ 0 w 21"/>
                <a:gd name="T3" fmla="*/ 0 h 19"/>
                <a:gd name="T4" fmla="*/ 21 w 21"/>
                <a:gd name="T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9">
                  <a:moveTo>
                    <a:pt x="21" y="19"/>
                  </a:moveTo>
                  <a:lnTo>
                    <a:pt x="0" y="0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6" name="Line 75"/>
            <p:cNvSpPr>
              <a:spLocks noChangeShapeType="1"/>
            </p:cNvSpPr>
            <p:nvPr/>
          </p:nvSpPr>
          <p:spPr bwMode="auto">
            <a:xfrm flipH="1" flipV="1">
              <a:off x="-1671705" y="6809980"/>
              <a:ext cx="33338" cy="3016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7" name="Freeform 76"/>
            <p:cNvSpPr>
              <a:spLocks/>
            </p:cNvSpPr>
            <p:nvPr/>
          </p:nvSpPr>
          <p:spPr bwMode="auto">
            <a:xfrm>
              <a:off x="-1678055" y="6802043"/>
              <a:ext cx="46038" cy="42863"/>
            </a:xfrm>
            <a:custGeom>
              <a:avLst/>
              <a:gdLst>
                <a:gd name="T0" fmla="*/ 29 w 34"/>
                <a:gd name="T1" fmla="*/ 31 h 31"/>
                <a:gd name="T2" fmla="*/ 26 w 34"/>
                <a:gd name="T3" fmla="*/ 30 h 31"/>
                <a:gd name="T4" fmla="*/ 2 w 34"/>
                <a:gd name="T5" fmla="*/ 8 h 31"/>
                <a:gd name="T6" fmla="*/ 2 w 34"/>
                <a:gd name="T7" fmla="*/ 2 h 31"/>
                <a:gd name="T8" fmla="*/ 8 w 34"/>
                <a:gd name="T9" fmla="*/ 2 h 31"/>
                <a:gd name="T10" fmla="*/ 32 w 34"/>
                <a:gd name="T11" fmla="*/ 24 h 31"/>
                <a:gd name="T12" fmla="*/ 32 w 34"/>
                <a:gd name="T13" fmla="*/ 30 h 31"/>
                <a:gd name="T14" fmla="*/ 29 w 34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1">
                  <a:moveTo>
                    <a:pt x="29" y="31"/>
                  </a:moveTo>
                  <a:cubicBezTo>
                    <a:pt x="28" y="31"/>
                    <a:pt x="27" y="31"/>
                    <a:pt x="26" y="30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4" y="26"/>
                    <a:pt x="34" y="28"/>
                    <a:pt x="32" y="30"/>
                  </a:cubicBezTo>
                  <a:cubicBezTo>
                    <a:pt x="31" y="31"/>
                    <a:pt x="30" y="31"/>
                    <a:pt x="29" y="31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8" name="Freeform 77"/>
            <p:cNvSpPr>
              <a:spLocks/>
            </p:cNvSpPr>
            <p:nvPr/>
          </p:nvSpPr>
          <p:spPr bwMode="auto">
            <a:xfrm>
              <a:off x="-1744730" y="6814743"/>
              <a:ext cx="23813" cy="36513"/>
            </a:xfrm>
            <a:custGeom>
              <a:avLst/>
              <a:gdLst>
                <a:gd name="T0" fmla="*/ 0 w 15"/>
                <a:gd name="T1" fmla="*/ 23 h 23"/>
                <a:gd name="T2" fmla="*/ 15 w 15"/>
                <a:gd name="T3" fmla="*/ 0 h 23"/>
                <a:gd name="T4" fmla="*/ 0 w 15"/>
                <a:gd name="T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23">
                  <a:moveTo>
                    <a:pt x="0" y="23"/>
                  </a:moveTo>
                  <a:lnTo>
                    <a:pt x="15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3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59" name="Line 78"/>
            <p:cNvSpPr>
              <a:spLocks noChangeShapeType="1"/>
            </p:cNvSpPr>
            <p:nvPr/>
          </p:nvSpPr>
          <p:spPr bwMode="auto">
            <a:xfrm flipV="1">
              <a:off x="-1744730" y="6814743"/>
              <a:ext cx="23813" cy="365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60" name="Freeform 79"/>
            <p:cNvSpPr>
              <a:spLocks/>
            </p:cNvSpPr>
            <p:nvPr/>
          </p:nvSpPr>
          <p:spPr bwMode="auto">
            <a:xfrm>
              <a:off x="-1749493" y="6809980"/>
              <a:ext cx="36513" cy="47625"/>
            </a:xfrm>
            <a:custGeom>
              <a:avLst/>
              <a:gdLst>
                <a:gd name="T0" fmla="*/ 4 w 27"/>
                <a:gd name="T1" fmla="*/ 35 h 35"/>
                <a:gd name="T2" fmla="*/ 2 w 27"/>
                <a:gd name="T3" fmla="*/ 34 h 35"/>
                <a:gd name="T4" fmla="*/ 1 w 27"/>
                <a:gd name="T5" fmla="*/ 28 h 35"/>
                <a:gd name="T6" fmla="*/ 19 w 27"/>
                <a:gd name="T7" fmla="*/ 2 h 35"/>
                <a:gd name="T8" fmla="*/ 25 w 27"/>
                <a:gd name="T9" fmla="*/ 1 h 35"/>
                <a:gd name="T10" fmla="*/ 26 w 27"/>
                <a:gd name="T11" fmla="*/ 7 h 35"/>
                <a:gd name="T12" fmla="*/ 8 w 27"/>
                <a:gd name="T13" fmla="*/ 33 h 35"/>
                <a:gd name="T14" fmla="*/ 4 w 27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35">
                  <a:moveTo>
                    <a:pt x="4" y="35"/>
                  </a:moveTo>
                  <a:cubicBezTo>
                    <a:pt x="4" y="35"/>
                    <a:pt x="3" y="34"/>
                    <a:pt x="2" y="34"/>
                  </a:cubicBezTo>
                  <a:cubicBezTo>
                    <a:pt x="0" y="33"/>
                    <a:pt x="0" y="30"/>
                    <a:pt x="1" y="28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0" y="0"/>
                    <a:pt x="23" y="0"/>
                    <a:pt x="25" y="1"/>
                  </a:cubicBezTo>
                  <a:cubicBezTo>
                    <a:pt x="26" y="2"/>
                    <a:pt x="27" y="5"/>
                    <a:pt x="26" y="7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7" y="34"/>
                    <a:pt x="6" y="35"/>
                    <a:pt x="4" y="35"/>
                  </a:cubicBezTo>
                  <a:close/>
                </a:path>
              </a:pathLst>
            </a:custGeom>
            <a:solidFill>
              <a:srgbClr val="04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4428703" y="10314683"/>
            <a:ext cx="220264" cy="216593"/>
            <a:chOff x="6551125" y="2489748"/>
            <a:chExt cx="666750" cy="655638"/>
          </a:xfrm>
          <a:solidFill>
            <a:srgbClr val="98989A"/>
          </a:solidFill>
        </p:grpSpPr>
        <p:sp>
          <p:nvSpPr>
            <p:cNvPr id="203" name="Freeform 78"/>
            <p:cNvSpPr>
              <a:spLocks/>
            </p:cNvSpPr>
            <p:nvPr/>
          </p:nvSpPr>
          <p:spPr bwMode="auto">
            <a:xfrm>
              <a:off x="6908313" y="2489748"/>
              <a:ext cx="309562" cy="309563"/>
            </a:xfrm>
            <a:custGeom>
              <a:avLst/>
              <a:gdLst>
                <a:gd name="T0" fmla="*/ 0 w 87"/>
                <a:gd name="T1" fmla="*/ 0 h 87"/>
                <a:gd name="T2" fmla="*/ 0 w 87"/>
                <a:gd name="T3" fmla="*/ 16 h 87"/>
                <a:gd name="T4" fmla="*/ 71 w 87"/>
                <a:gd name="T5" fmla="*/ 87 h 87"/>
                <a:gd name="T6" fmla="*/ 87 w 87"/>
                <a:gd name="T7" fmla="*/ 87 h 87"/>
                <a:gd name="T8" fmla="*/ 0 w 87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40" y="16"/>
                    <a:pt x="71" y="48"/>
                    <a:pt x="71" y="87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39"/>
                    <a:pt x="48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05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04" name="Freeform 79"/>
            <p:cNvSpPr>
              <a:spLocks/>
            </p:cNvSpPr>
            <p:nvPr/>
          </p:nvSpPr>
          <p:spPr bwMode="auto">
            <a:xfrm>
              <a:off x="6908313" y="2635798"/>
              <a:ext cx="166687" cy="163513"/>
            </a:xfrm>
            <a:custGeom>
              <a:avLst/>
              <a:gdLst>
                <a:gd name="T0" fmla="*/ 31 w 47"/>
                <a:gd name="T1" fmla="*/ 46 h 46"/>
                <a:gd name="T2" fmla="*/ 47 w 47"/>
                <a:gd name="T3" fmla="*/ 46 h 46"/>
                <a:gd name="T4" fmla="*/ 0 w 47"/>
                <a:gd name="T5" fmla="*/ 0 h 46"/>
                <a:gd name="T6" fmla="*/ 0 w 47"/>
                <a:gd name="T7" fmla="*/ 16 h 46"/>
                <a:gd name="T8" fmla="*/ 22 w 47"/>
                <a:gd name="T9" fmla="*/ 25 h 46"/>
                <a:gd name="T10" fmla="*/ 31 w 47"/>
                <a:gd name="T11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46">
                  <a:moveTo>
                    <a:pt x="31" y="46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7" y="21"/>
                    <a:pt x="26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9" y="16"/>
                    <a:pt x="16" y="19"/>
                    <a:pt x="22" y="25"/>
                  </a:cubicBezTo>
                  <a:cubicBezTo>
                    <a:pt x="28" y="30"/>
                    <a:pt x="31" y="38"/>
                    <a:pt x="31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05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  <p:sp>
          <p:nvSpPr>
            <p:cNvPr id="205" name="Freeform 80"/>
            <p:cNvSpPr>
              <a:spLocks noEditPoints="1"/>
            </p:cNvSpPr>
            <p:nvPr/>
          </p:nvSpPr>
          <p:spPr bwMode="auto">
            <a:xfrm>
              <a:off x="6551125" y="2532611"/>
              <a:ext cx="598487" cy="612775"/>
            </a:xfrm>
            <a:custGeom>
              <a:avLst/>
              <a:gdLst>
                <a:gd name="T0" fmla="*/ 152 w 169"/>
                <a:gd name="T1" fmla="*/ 173 h 173"/>
                <a:gd name="T2" fmla="*/ 146 w 169"/>
                <a:gd name="T3" fmla="*/ 173 h 173"/>
                <a:gd name="T4" fmla="*/ 38 w 169"/>
                <a:gd name="T5" fmla="*/ 117 h 173"/>
                <a:gd name="T6" fmla="*/ 8 w 169"/>
                <a:gd name="T7" fmla="*/ 17 h 173"/>
                <a:gd name="T8" fmla="*/ 8 w 169"/>
                <a:gd name="T9" fmla="*/ 11 h 173"/>
                <a:gd name="T10" fmla="*/ 16 w 169"/>
                <a:gd name="T11" fmla="*/ 4 h 173"/>
                <a:gd name="T12" fmla="*/ 57 w 169"/>
                <a:gd name="T13" fmla="*/ 0 h 173"/>
                <a:gd name="T14" fmla="*/ 60 w 169"/>
                <a:gd name="T15" fmla="*/ 3 h 173"/>
                <a:gd name="T16" fmla="*/ 72 w 169"/>
                <a:gd name="T17" fmla="*/ 26 h 173"/>
                <a:gd name="T18" fmla="*/ 63 w 169"/>
                <a:gd name="T19" fmla="*/ 67 h 173"/>
                <a:gd name="T20" fmla="*/ 105 w 169"/>
                <a:gd name="T21" fmla="*/ 112 h 173"/>
                <a:gd name="T22" fmla="*/ 124 w 169"/>
                <a:gd name="T23" fmla="*/ 104 h 173"/>
                <a:gd name="T24" fmla="*/ 165 w 169"/>
                <a:gd name="T25" fmla="*/ 122 h 173"/>
                <a:gd name="T26" fmla="*/ 169 w 169"/>
                <a:gd name="T27" fmla="*/ 131 h 173"/>
                <a:gd name="T28" fmla="*/ 161 w 169"/>
                <a:gd name="T29" fmla="*/ 166 h 173"/>
                <a:gd name="T30" fmla="*/ 152 w 169"/>
                <a:gd name="T31" fmla="*/ 173 h 173"/>
                <a:gd name="T32" fmla="*/ 22 w 169"/>
                <a:gd name="T33" fmla="*/ 18 h 173"/>
                <a:gd name="T34" fmla="*/ 21 w 169"/>
                <a:gd name="T35" fmla="*/ 19 h 173"/>
                <a:gd name="T36" fmla="*/ 49 w 169"/>
                <a:gd name="T37" fmla="*/ 109 h 173"/>
                <a:gd name="T38" fmla="*/ 147 w 169"/>
                <a:gd name="T39" fmla="*/ 159 h 173"/>
                <a:gd name="T40" fmla="*/ 148 w 169"/>
                <a:gd name="T41" fmla="*/ 159 h 173"/>
                <a:gd name="T42" fmla="*/ 154 w 169"/>
                <a:gd name="T43" fmla="*/ 131 h 173"/>
                <a:gd name="T44" fmla="*/ 126 w 169"/>
                <a:gd name="T45" fmla="*/ 118 h 173"/>
                <a:gd name="T46" fmla="*/ 111 w 169"/>
                <a:gd name="T47" fmla="*/ 125 h 173"/>
                <a:gd name="T48" fmla="*/ 108 w 169"/>
                <a:gd name="T49" fmla="*/ 130 h 173"/>
                <a:gd name="T50" fmla="*/ 99 w 169"/>
                <a:gd name="T51" fmla="*/ 125 h 173"/>
                <a:gd name="T52" fmla="*/ 50 w 169"/>
                <a:gd name="T53" fmla="*/ 71 h 173"/>
                <a:gd name="T54" fmla="*/ 46 w 169"/>
                <a:gd name="T55" fmla="*/ 63 h 173"/>
                <a:gd name="T56" fmla="*/ 53 w 169"/>
                <a:gd name="T57" fmla="*/ 57 h 173"/>
                <a:gd name="T58" fmla="*/ 59 w 169"/>
                <a:gd name="T59" fmla="*/ 31 h 173"/>
                <a:gd name="T60" fmla="*/ 51 w 169"/>
                <a:gd name="T61" fmla="*/ 15 h 173"/>
                <a:gd name="T62" fmla="*/ 22 w 169"/>
                <a:gd name="T63" fmla="*/ 18 h 173"/>
                <a:gd name="T64" fmla="*/ 17 w 169"/>
                <a:gd name="T65" fmla="*/ 18 h 173"/>
                <a:gd name="T66" fmla="*/ 17 w 169"/>
                <a:gd name="T67" fmla="*/ 18 h 173"/>
                <a:gd name="T68" fmla="*/ 17 w 169"/>
                <a:gd name="T69" fmla="*/ 18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9" h="173">
                  <a:moveTo>
                    <a:pt x="152" y="173"/>
                  </a:moveTo>
                  <a:cubicBezTo>
                    <a:pt x="146" y="173"/>
                    <a:pt x="146" y="173"/>
                    <a:pt x="146" y="173"/>
                  </a:cubicBezTo>
                  <a:cubicBezTo>
                    <a:pt x="79" y="170"/>
                    <a:pt x="42" y="123"/>
                    <a:pt x="38" y="117"/>
                  </a:cubicBezTo>
                  <a:cubicBezTo>
                    <a:pt x="0" y="69"/>
                    <a:pt x="7" y="19"/>
                    <a:pt x="8" y="17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8"/>
                    <a:pt x="12" y="5"/>
                    <a:pt x="16" y="4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68" y="14"/>
                    <a:pt x="72" y="26"/>
                  </a:cubicBezTo>
                  <a:cubicBezTo>
                    <a:pt x="79" y="47"/>
                    <a:pt x="71" y="60"/>
                    <a:pt x="63" y="67"/>
                  </a:cubicBezTo>
                  <a:cubicBezTo>
                    <a:pt x="75" y="94"/>
                    <a:pt x="94" y="107"/>
                    <a:pt x="105" y="112"/>
                  </a:cubicBezTo>
                  <a:cubicBezTo>
                    <a:pt x="109" y="109"/>
                    <a:pt x="115" y="105"/>
                    <a:pt x="124" y="104"/>
                  </a:cubicBezTo>
                  <a:cubicBezTo>
                    <a:pt x="137" y="103"/>
                    <a:pt x="151" y="109"/>
                    <a:pt x="165" y="122"/>
                  </a:cubicBezTo>
                  <a:cubicBezTo>
                    <a:pt x="168" y="125"/>
                    <a:pt x="169" y="128"/>
                    <a:pt x="169" y="131"/>
                  </a:cubicBezTo>
                  <a:cubicBezTo>
                    <a:pt x="161" y="166"/>
                    <a:pt x="161" y="166"/>
                    <a:pt x="161" y="166"/>
                  </a:cubicBezTo>
                  <a:cubicBezTo>
                    <a:pt x="160" y="170"/>
                    <a:pt x="156" y="173"/>
                    <a:pt x="152" y="173"/>
                  </a:cubicBezTo>
                  <a:close/>
                  <a:moveTo>
                    <a:pt x="22" y="18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1" y="21"/>
                    <a:pt x="14" y="65"/>
                    <a:pt x="49" y="109"/>
                  </a:cubicBezTo>
                  <a:cubicBezTo>
                    <a:pt x="53" y="114"/>
                    <a:pt x="86" y="157"/>
                    <a:pt x="147" y="159"/>
                  </a:cubicBezTo>
                  <a:cubicBezTo>
                    <a:pt x="148" y="159"/>
                    <a:pt x="148" y="159"/>
                    <a:pt x="148" y="159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44" y="122"/>
                    <a:pt x="134" y="118"/>
                    <a:pt x="126" y="118"/>
                  </a:cubicBezTo>
                  <a:cubicBezTo>
                    <a:pt x="116" y="119"/>
                    <a:pt x="111" y="125"/>
                    <a:pt x="111" y="125"/>
                  </a:cubicBezTo>
                  <a:cubicBezTo>
                    <a:pt x="108" y="130"/>
                    <a:pt x="108" y="130"/>
                    <a:pt x="108" y="130"/>
                  </a:cubicBezTo>
                  <a:cubicBezTo>
                    <a:pt x="99" y="125"/>
                    <a:pt x="99" y="125"/>
                    <a:pt x="99" y="125"/>
                  </a:cubicBezTo>
                  <a:cubicBezTo>
                    <a:pt x="86" y="119"/>
                    <a:pt x="64" y="103"/>
                    <a:pt x="50" y="71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53" y="57"/>
                    <a:pt x="53" y="57"/>
                    <a:pt x="53" y="57"/>
                  </a:cubicBezTo>
                  <a:cubicBezTo>
                    <a:pt x="58" y="53"/>
                    <a:pt x="64" y="46"/>
                    <a:pt x="59" y="31"/>
                  </a:cubicBezTo>
                  <a:cubicBezTo>
                    <a:pt x="56" y="24"/>
                    <a:pt x="53" y="18"/>
                    <a:pt x="51" y="15"/>
                  </a:cubicBezTo>
                  <a:lnTo>
                    <a:pt x="22" y="18"/>
                  </a:lnTo>
                  <a:close/>
                  <a:moveTo>
                    <a:pt x="17" y="18"/>
                  </a:move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050" dirty="0">
                <a:latin typeface="원신한 Light" panose="020B0303000000000000" pitchFamily="50" charset="-127"/>
                <a:ea typeface="원신한 Light" panose="020B0303000000000000" pitchFamily="50" charset="-127"/>
              </a:endParaRPr>
            </a:p>
          </p:txBody>
        </p:sp>
      </p:grpSp>
      <p:sp>
        <p:nvSpPr>
          <p:cNvPr id="207" name="TextBox 206"/>
          <p:cNvSpPr txBox="1"/>
          <p:nvPr/>
        </p:nvSpPr>
        <p:spPr>
          <a:xfrm flipH="1">
            <a:off x="2154706" y="6332418"/>
            <a:ext cx="2273995" cy="360000"/>
          </a:xfrm>
          <a:prstGeom prst="homePlate">
            <a:avLst>
              <a:gd name="adj" fmla="val 35889"/>
            </a:avLst>
          </a:prstGeom>
          <a:gradFill flip="none" rotWithShape="1">
            <a:gsLst>
              <a:gs pos="0">
                <a:srgbClr val="282781"/>
              </a:gs>
              <a:gs pos="100000">
                <a:srgbClr val="0055B8"/>
              </a:gs>
            </a:gsLst>
            <a:lin ang="0" scaled="0"/>
            <a:tileRect/>
          </a:gradFill>
          <a:ln w="3175">
            <a:noFill/>
          </a:ln>
          <a:effectLst>
            <a:outerShdw blurRad="38100" dist="12700" dir="5400000" algn="ctr">
              <a:srgbClr val="98989A"/>
            </a:outerShdw>
          </a:effectLst>
        </p:spPr>
        <p:txBody>
          <a:bodyPr wrap="none" lIns="126000" tIns="46800" rIns="90000" bIns="46800" anchor="ctr">
            <a:noAutofit/>
          </a:bodyPr>
          <a:lstStyle>
            <a:defPPr>
              <a:defRPr lang="ko-KR"/>
            </a:defPPr>
            <a:lvl1pPr algn="ctr">
              <a:lnSpc>
                <a:spcPct val="105000"/>
              </a:lnSpc>
              <a:defRPr sz="1100">
                <a:solidFill>
                  <a:srgbClr val="011B6A"/>
                </a:solidFill>
                <a:latin typeface="원신한 Medium" panose="020B0603000000000000" pitchFamily="50" charset="-127"/>
                <a:ea typeface="원신한 Medium" panose="020B0603000000000000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ko-KR" altLang="en-US" sz="1600" dirty="0">
                <a:solidFill>
                  <a:schemeClr val="bg1"/>
                </a:solidFill>
              </a:rPr>
              <a:t>수익률 관리가 편리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775" y="6280040"/>
            <a:ext cx="562289" cy="70020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4E52E13-867F-4D6E-8A50-A6C8E0B880C2}"/>
              </a:ext>
            </a:extLst>
          </p:cNvPr>
          <p:cNvGrpSpPr/>
          <p:nvPr/>
        </p:nvGrpSpPr>
        <p:grpSpPr>
          <a:xfrm>
            <a:off x="905287" y="7434932"/>
            <a:ext cx="1579200" cy="2533322"/>
            <a:chOff x="1253651" y="7433233"/>
            <a:chExt cx="1579200" cy="2533322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E4380EA6-FE31-4BC3-A72A-DA6223B32D49}"/>
                </a:ext>
              </a:extLst>
            </p:cNvPr>
            <p:cNvSpPr/>
            <p:nvPr/>
          </p:nvSpPr>
          <p:spPr>
            <a:xfrm>
              <a:off x="1253651" y="7443475"/>
              <a:ext cx="1579200" cy="2523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1000" sy="101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18193" rtlCol="0" anchor="t"/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rgbClr val="356EBA"/>
                  </a:solidFill>
                  <a:latin typeface="원신한 Medium" pitchFamily="50" charset="-127"/>
                  <a:ea typeface="원신한 Medium" pitchFamily="50" charset="-127"/>
                </a:rPr>
                <a:t>1,022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국내 </a:t>
              </a: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/ </a:t>
              </a:r>
              <a:r>
                <a:rPr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해외 </a:t>
              </a: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/ </a:t>
              </a:r>
              <a:r>
                <a:rPr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대체투자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AAA50D1-C35E-48EA-AA86-73212B3093D7}"/>
                </a:ext>
              </a:extLst>
            </p:cNvPr>
            <p:cNvSpPr txBox="1"/>
            <p:nvPr/>
          </p:nvSpPr>
          <p:spPr>
            <a:xfrm>
              <a:off x="1253651" y="7433233"/>
              <a:ext cx="1579200" cy="220125"/>
            </a:xfrm>
            <a:prstGeom prst="rect">
              <a:avLst/>
            </a:prstGeom>
            <a:solidFill>
              <a:srgbClr val="00358E"/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lvl="0" algn="ctr" latinLnBrk="0">
                <a:defRPr/>
              </a:pPr>
              <a:r>
                <a:rPr lang="ko-KR" altLang="en-US" sz="80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Shinhan Bold" pitchFamily="34" charset="0"/>
                </a:rPr>
                <a:t>실적 배당 상품</a:t>
              </a:r>
              <a:endParaRPr lang="en-US" altLang="ko-KR" sz="800" dirty="0">
                <a:solidFill>
                  <a:schemeClr val="bg1"/>
                </a:solidFill>
                <a:latin typeface="원신한 Medium" pitchFamily="50" charset="-127"/>
                <a:ea typeface="원신한 Medium" pitchFamily="50" charset="-127"/>
                <a:cs typeface="Shinhan Bold" pitchFamily="34" charset="0"/>
              </a:endParaRPr>
            </a:p>
          </p:txBody>
        </p: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8FEE0DEA-4D74-4E20-BE17-D8F299D36A21}"/>
                </a:ext>
              </a:extLst>
            </p:cNvPr>
            <p:cNvCxnSpPr/>
            <p:nvPr/>
          </p:nvCxnSpPr>
          <p:spPr>
            <a:xfrm>
              <a:off x="1345388" y="8057385"/>
              <a:ext cx="1395727" cy="0"/>
            </a:xfrm>
            <a:prstGeom prst="line">
              <a:avLst/>
            </a:prstGeom>
            <a:ln w="57150" cap="rnd">
              <a:solidFill>
                <a:srgbClr val="EAEA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5" name="그림 154" descr="130114204812.jpg">
              <a:extLst>
                <a:ext uri="{FF2B5EF4-FFF2-40B4-BE49-F238E27FC236}">
                  <a16:creationId xmlns:a16="http://schemas.microsoft.com/office/drawing/2014/main" id="{3C76FD0F-C421-4012-B302-99F35EBF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9093" y="9538200"/>
              <a:ext cx="403490" cy="240600"/>
            </a:xfrm>
            <a:prstGeom prst="rect">
              <a:avLst/>
            </a:prstGeom>
          </p:spPr>
        </p:pic>
        <p:pic>
          <p:nvPicPr>
            <p:cNvPr id="156" name="그림 155" descr="130114204647.jpg">
              <a:extLst>
                <a:ext uri="{FF2B5EF4-FFF2-40B4-BE49-F238E27FC236}">
                  <a16:creationId xmlns:a16="http://schemas.microsoft.com/office/drawing/2014/main" id="{CDCDA0FF-9E3F-4B8D-8889-69352314B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9131" y="9059565"/>
              <a:ext cx="576142" cy="201440"/>
            </a:xfrm>
            <a:prstGeom prst="rect">
              <a:avLst/>
            </a:prstGeom>
          </p:spPr>
        </p:pic>
        <p:pic>
          <p:nvPicPr>
            <p:cNvPr id="157" name="그림 156" descr="알리안츠로고(흰박스-단순).jpg">
              <a:extLst>
                <a:ext uri="{FF2B5EF4-FFF2-40B4-BE49-F238E27FC236}">
                  <a16:creationId xmlns:a16="http://schemas.microsoft.com/office/drawing/2014/main" id="{81D29952-6BAE-4BC6-9531-620B63B2B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rcRect t="22083" b="22372"/>
            <a:stretch>
              <a:fillRect/>
            </a:stretch>
          </p:blipFill>
          <p:spPr>
            <a:xfrm>
              <a:off x="2045258" y="9131602"/>
              <a:ext cx="578218" cy="131374"/>
            </a:xfrm>
            <a:prstGeom prst="rect">
              <a:avLst/>
            </a:prstGeom>
          </p:spPr>
        </p:pic>
        <p:pic>
          <p:nvPicPr>
            <p:cNvPr id="161" name="그림 160">
              <a:extLst>
                <a:ext uri="{FF2B5EF4-FFF2-40B4-BE49-F238E27FC236}">
                  <a16:creationId xmlns:a16="http://schemas.microsoft.com/office/drawing/2014/main" id="{9DA88274-C70D-40AA-B218-6757A2B5C9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888"/>
            <a:stretch/>
          </p:blipFill>
          <p:spPr>
            <a:xfrm>
              <a:off x="1488432" y="8392274"/>
              <a:ext cx="534753" cy="99177"/>
            </a:xfrm>
            <a:prstGeom prst="rect">
              <a:avLst/>
            </a:prstGeom>
          </p:spPr>
        </p:pic>
        <p:pic>
          <p:nvPicPr>
            <p:cNvPr id="164" name="Picture 3">
              <a:extLst>
                <a:ext uri="{FF2B5EF4-FFF2-40B4-BE49-F238E27FC236}">
                  <a16:creationId xmlns:a16="http://schemas.microsoft.com/office/drawing/2014/main" id="{104506A2-0D89-4217-A3B4-D94CBF198D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8252" y="8661870"/>
              <a:ext cx="530243" cy="110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6" name="Picture 2">
              <a:extLst>
                <a:ext uri="{FF2B5EF4-FFF2-40B4-BE49-F238E27FC236}">
                  <a16:creationId xmlns:a16="http://schemas.microsoft.com/office/drawing/2014/main" id="{ECC767C2-A1B4-4F71-9BC1-CE2486E985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131" y="8854824"/>
              <a:ext cx="654721" cy="126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8" name="Picture 4">
              <a:extLst>
                <a:ext uri="{FF2B5EF4-FFF2-40B4-BE49-F238E27FC236}">
                  <a16:creationId xmlns:a16="http://schemas.microsoft.com/office/drawing/2014/main" id="{6A43744F-0395-4F66-8A8B-1DD3F4D6C6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1804" y="8101494"/>
              <a:ext cx="349775" cy="185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9" name="Picture 5">
              <a:extLst>
                <a:ext uri="{FF2B5EF4-FFF2-40B4-BE49-F238E27FC236}">
                  <a16:creationId xmlns:a16="http://schemas.microsoft.com/office/drawing/2014/main" id="{BDF8BF2D-F5FC-4914-80F6-D9546C66B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0986" y="9303526"/>
              <a:ext cx="371043" cy="211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6">
              <a:extLst>
                <a:ext uri="{FF2B5EF4-FFF2-40B4-BE49-F238E27FC236}">
                  <a16:creationId xmlns:a16="http://schemas.microsoft.com/office/drawing/2014/main" id="{98EAFAE3-31AA-4327-9A2E-BD0E17F3C7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924" y="9610390"/>
              <a:ext cx="731290" cy="144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1" name="Picture 7">
              <a:extLst>
                <a:ext uri="{FF2B5EF4-FFF2-40B4-BE49-F238E27FC236}">
                  <a16:creationId xmlns:a16="http://schemas.microsoft.com/office/drawing/2014/main" id="{7CE77BD6-F1D7-4349-9FA1-5A03976E4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0333" y="8873831"/>
              <a:ext cx="493143" cy="14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2" name="Picture 1" descr="C:\Documents and Settings\기본\바탕 화면\logo_MiraeAsset_Securities.png">
              <a:extLst>
                <a:ext uri="{FF2B5EF4-FFF2-40B4-BE49-F238E27FC236}">
                  <a16:creationId xmlns:a16="http://schemas.microsoft.com/office/drawing/2014/main" id="{C14E3E8C-196E-4956-A140-10E30B647B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5169"/>
            <a:stretch/>
          </p:blipFill>
          <p:spPr bwMode="auto">
            <a:xfrm>
              <a:off x="1483378" y="8124436"/>
              <a:ext cx="603911" cy="142561"/>
            </a:xfrm>
            <a:prstGeom prst="rect">
              <a:avLst/>
            </a:prstGeom>
            <a:noFill/>
          </p:spPr>
        </p:pic>
        <p:pic>
          <p:nvPicPr>
            <p:cNvPr id="173" name="Picture 9">
              <a:extLst>
                <a:ext uri="{FF2B5EF4-FFF2-40B4-BE49-F238E27FC236}">
                  <a16:creationId xmlns:a16="http://schemas.microsoft.com/office/drawing/2014/main" id="{73E8CBF4-FAA7-4425-8341-0D1B0A9EF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850" y="8323715"/>
              <a:ext cx="429920" cy="23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6" name="Picture 10">
              <a:extLst>
                <a:ext uri="{FF2B5EF4-FFF2-40B4-BE49-F238E27FC236}">
                  <a16:creationId xmlns:a16="http://schemas.microsoft.com/office/drawing/2014/main" id="{8D9EE4D1-65E2-4F1E-BF4F-4C727A8DB5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8764" y="9398956"/>
              <a:ext cx="634712" cy="91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0" name="Picture 11">
              <a:extLst>
                <a:ext uri="{FF2B5EF4-FFF2-40B4-BE49-F238E27FC236}">
                  <a16:creationId xmlns:a16="http://schemas.microsoft.com/office/drawing/2014/main" id="{E51FCBC2-494C-4B29-9BF0-52A4AB62C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1774" y="8614810"/>
              <a:ext cx="486070" cy="157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3" name="Picture 2">
              <a:extLst>
                <a:ext uri="{FF2B5EF4-FFF2-40B4-BE49-F238E27FC236}">
                  <a16:creationId xmlns:a16="http://schemas.microsoft.com/office/drawing/2014/main" id="{D67E2CA6-E63C-4F75-9948-53BBA6757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681" y="9807559"/>
              <a:ext cx="440506" cy="112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6" name="Picture 3">
              <a:extLst>
                <a:ext uri="{FF2B5EF4-FFF2-40B4-BE49-F238E27FC236}">
                  <a16:creationId xmlns:a16="http://schemas.microsoft.com/office/drawing/2014/main" id="{E2463949-7FF1-4EDC-9325-A3844E046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3076" y="9786448"/>
              <a:ext cx="468503" cy="154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5079D8-EF45-432D-8745-918D44585088}"/>
              </a:ext>
            </a:extLst>
          </p:cNvPr>
          <p:cNvGrpSpPr/>
          <p:nvPr/>
        </p:nvGrpSpPr>
        <p:grpSpPr>
          <a:xfrm>
            <a:off x="5009743" y="7434932"/>
            <a:ext cx="1579200" cy="2533323"/>
            <a:chOff x="4522590" y="7433233"/>
            <a:chExt cx="1579200" cy="2533323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32C6E779-A06B-4CE8-A9CA-33D64E2E5D65}"/>
                </a:ext>
              </a:extLst>
            </p:cNvPr>
            <p:cNvSpPr/>
            <p:nvPr/>
          </p:nvSpPr>
          <p:spPr>
            <a:xfrm>
              <a:off x="4522590" y="7433233"/>
              <a:ext cx="1579200" cy="25333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1000" sy="101000" algn="ctr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18193" rtlCol="0" anchor="t"/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429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정기예금 </a:t>
              </a:r>
              <a:r>
                <a:rPr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/ ELB / GIC / </a:t>
              </a:r>
              <a:r>
                <a:rPr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원신한 Medium" pitchFamily="50" charset="-127"/>
                  <a:ea typeface="원신한 Medium" pitchFamily="50" charset="-127"/>
                </a:rPr>
                <a:t>구조화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B78B3CE-130B-4F2C-8511-639BAF0A33D8}"/>
                </a:ext>
              </a:extLst>
            </p:cNvPr>
            <p:cNvSpPr txBox="1"/>
            <p:nvPr/>
          </p:nvSpPr>
          <p:spPr>
            <a:xfrm>
              <a:off x="4522590" y="7433233"/>
              <a:ext cx="1579200" cy="220125"/>
            </a:xfrm>
            <a:prstGeom prst="rect">
              <a:avLst/>
            </a:prstGeom>
            <a:solidFill>
              <a:srgbClr val="BF9000"/>
            </a:solidFill>
            <a:ln>
              <a:noFill/>
            </a:ln>
          </p:spPr>
          <p:txBody>
            <a:bodyPr wrap="square" rtlCol="0" anchor="ctr">
              <a:noAutofit/>
            </a:bodyPr>
            <a:lstStyle>
              <a:defPPr>
                <a:defRPr lang="ko-KR"/>
              </a:defPPr>
              <a:lvl1pPr algn="ctr" latinLnBrk="0">
                <a:defRPr kumimoji="0" sz="1800" b="1">
                  <a:solidFill>
                    <a:prstClr val="white"/>
                  </a:solidFill>
                  <a:effectLst/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>
                <a:defRPr/>
              </a:pPr>
              <a:r>
                <a:rPr lang="ko-KR" altLang="en-US" sz="800" b="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Shinhan Bold" pitchFamily="34" charset="0"/>
                </a:rPr>
                <a:t>원리금 보장 상품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4A750CD4-9ED8-4BF9-AF6C-4F88C1FE029E}"/>
                </a:ext>
              </a:extLst>
            </p:cNvPr>
            <p:cNvGrpSpPr/>
            <p:nvPr/>
          </p:nvGrpSpPr>
          <p:grpSpPr>
            <a:xfrm>
              <a:off x="4748095" y="8286937"/>
              <a:ext cx="1165259" cy="315569"/>
              <a:chOff x="7193869" y="3755381"/>
              <a:chExt cx="2284475" cy="618670"/>
            </a:xfrm>
          </p:grpSpPr>
          <p:pic>
            <p:nvPicPr>
              <p:cNvPr id="223" name="Picture 4">
                <a:extLst>
                  <a:ext uri="{FF2B5EF4-FFF2-40B4-BE49-F238E27FC236}">
                    <a16:creationId xmlns:a16="http://schemas.microsoft.com/office/drawing/2014/main" id="{EB3FB332-8E23-46F6-9749-ECDD90087F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7764" y="4086019"/>
                <a:ext cx="610014" cy="240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4" name="Picture 5">
                <a:extLst>
                  <a:ext uri="{FF2B5EF4-FFF2-40B4-BE49-F238E27FC236}">
                    <a16:creationId xmlns:a16="http://schemas.microsoft.com/office/drawing/2014/main" id="{681E8E0D-816E-4994-B11B-2EF444B184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90916" y="4086019"/>
                <a:ext cx="479334" cy="2274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" name="Picture 2">
                <a:extLst>
                  <a:ext uri="{FF2B5EF4-FFF2-40B4-BE49-F238E27FC236}">
                    <a16:creationId xmlns:a16="http://schemas.microsoft.com/office/drawing/2014/main" id="{91BC148C-5794-434F-B669-B914A4DC07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93869" y="3755381"/>
                <a:ext cx="1273909" cy="258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6" name="Picture 2" descr="D:\★내문서\■ Power Point\회사 logo로고\기타 회사 로고\농협.gif">
                <a:extLst>
                  <a:ext uri="{FF2B5EF4-FFF2-40B4-BE49-F238E27FC236}">
                    <a16:creationId xmlns:a16="http://schemas.microsoft.com/office/drawing/2014/main" id="{E95A30E0-4091-4E71-89CD-1CC5F0256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8589092" y="3813744"/>
                <a:ext cx="814790" cy="155198"/>
              </a:xfrm>
              <a:prstGeom prst="rect">
                <a:avLst/>
              </a:prstGeom>
              <a:noFill/>
            </p:spPr>
          </p:pic>
          <p:pic>
            <p:nvPicPr>
              <p:cNvPr id="227" name="Picture 2">
                <a:extLst>
                  <a:ext uri="{FF2B5EF4-FFF2-40B4-BE49-F238E27FC236}">
                    <a16:creationId xmlns:a16="http://schemas.microsoft.com/office/drawing/2014/main" id="{56C4621C-60F7-480F-8E31-E8A2FAE9AA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11794" y="4088202"/>
                <a:ext cx="866550" cy="285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31" name="Picture 7">
              <a:extLst>
                <a:ext uri="{FF2B5EF4-FFF2-40B4-BE49-F238E27FC236}">
                  <a16:creationId xmlns:a16="http://schemas.microsoft.com/office/drawing/2014/main" id="{9E55CA7E-2FD9-4A49-B1AC-E869810304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6846" y="9526521"/>
              <a:ext cx="595432" cy="111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323CC6A-5E77-4CAC-81F4-966B61B1621B}"/>
                </a:ext>
              </a:extLst>
            </p:cNvPr>
            <p:cNvSpPr txBox="1"/>
            <p:nvPr/>
          </p:nvSpPr>
          <p:spPr>
            <a:xfrm>
              <a:off x="4595850" y="8094114"/>
              <a:ext cx="1432682" cy="156636"/>
            </a:xfrm>
            <a:prstGeom prst="roundRect">
              <a:avLst/>
            </a:prstGeom>
            <a:solidFill>
              <a:srgbClr val="E5E2D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ko-KR"/>
              </a:defPPr>
              <a:lvl1pPr algn="ctr">
                <a:defRPr sz="1400" b="0">
                  <a:solidFill>
                    <a:srgbClr val="735D39"/>
                  </a:solidFill>
                  <a:latin typeface="원신한 Medium" panose="020B0603000000000000" pitchFamily="50" charset="-127"/>
                  <a:ea typeface="원신한 Medium" panose="020B0603000000000000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/>
                <a:t>정기예금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91CF39F-3E42-4F83-B661-CF35923F42A8}"/>
                </a:ext>
              </a:extLst>
            </p:cNvPr>
            <p:cNvSpPr txBox="1"/>
            <p:nvPr/>
          </p:nvSpPr>
          <p:spPr>
            <a:xfrm>
              <a:off x="4595850" y="8681763"/>
              <a:ext cx="1432682" cy="156636"/>
            </a:xfrm>
            <a:prstGeom prst="roundRect">
              <a:avLst/>
            </a:prstGeom>
            <a:solidFill>
              <a:srgbClr val="E5E2D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ko-KR"/>
              </a:defPPr>
              <a:lvl1pPr algn="ctr">
                <a:defRPr sz="1400" b="0">
                  <a:solidFill>
                    <a:srgbClr val="735D39"/>
                  </a:solidFill>
                  <a:latin typeface="원신한 Medium" panose="020B0603000000000000" pitchFamily="50" charset="-127"/>
                  <a:ea typeface="원신한 Medium" panose="020B0603000000000000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/>
                <a:t>원리금보장 </a:t>
              </a:r>
              <a:r>
                <a:rPr lang="en-US" altLang="ko-KR" sz="400" dirty="0"/>
                <a:t>ELB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C7FE1BD-7BC3-4E33-A32F-F2B3C3A455EA}"/>
                </a:ext>
              </a:extLst>
            </p:cNvPr>
            <p:cNvSpPr txBox="1"/>
            <p:nvPr/>
          </p:nvSpPr>
          <p:spPr>
            <a:xfrm>
              <a:off x="4595850" y="9306143"/>
              <a:ext cx="1432682" cy="156636"/>
            </a:xfrm>
            <a:prstGeom prst="roundRect">
              <a:avLst/>
            </a:prstGeom>
            <a:solidFill>
              <a:srgbClr val="E5E2D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ko-KR"/>
              </a:defPPr>
              <a:lvl1pPr algn="ctr">
                <a:defRPr sz="1400" b="1">
                  <a:solidFill>
                    <a:srgbClr val="735D39"/>
                  </a:solidFill>
                  <a:latin typeface="원신한 Light" panose="020B0303000000000000" pitchFamily="50" charset="-127"/>
                  <a:ea typeface="원신한 Light" panose="020B0303000000000000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b="0" dirty="0" err="1">
                  <a:latin typeface="원신한 Medium" panose="020B0603000000000000" pitchFamily="50" charset="-127"/>
                  <a:ea typeface="원신한 Medium" panose="020B0603000000000000" pitchFamily="50" charset="-127"/>
                </a:rPr>
                <a:t>이율보증형</a:t>
              </a:r>
              <a:r>
                <a:rPr lang="ko-KR" altLang="en-US" sz="400" b="0" dirty="0">
                  <a:latin typeface="원신한 Medium" panose="020B0603000000000000" pitchFamily="50" charset="-127"/>
                  <a:ea typeface="원신한 Medium" panose="020B0603000000000000" pitchFamily="50" charset="-127"/>
                </a:rPr>
                <a:t> </a:t>
              </a:r>
              <a:r>
                <a:rPr lang="en-US" altLang="ko-KR" sz="400" b="0" dirty="0">
                  <a:latin typeface="원신한 Medium" panose="020B0603000000000000" pitchFamily="50" charset="-127"/>
                  <a:ea typeface="원신한 Medium" panose="020B0603000000000000" pitchFamily="50" charset="-127"/>
                </a:rPr>
                <a:t>GIC</a:t>
              </a:r>
            </a:p>
          </p:txBody>
        </p:sp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39ECE54E-0910-4D06-A2E5-79A832B09C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23" t="17462" r="21792" b="65988"/>
            <a:stretch/>
          </p:blipFill>
          <p:spPr>
            <a:xfrm>
              <a:off x="4743196" y="9504217"/>
              <a:ext cx="477486" cy="140649"/>
            </a:xfrm>
            <a:prstGeom prst="rect">
              <a:avLst/>
            </a:prstGeom>
          </p:spPr>
        </p:pic>
        <p:pic>
          <p:nvPicPr>
            <p:cNvPr id="152" name="Picture 4">
              <a:extLst>
                <a:ext uri="{FF2B5EF4-FFF2-40B4-BE49-F238E27FC236}">
                  <a16:creationId xmlns:a16="http://schemas.microsoft.com/office/drawing/2014/main" id="{1C627513-9DCA-4D89-9AE7-8AC73A180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7220" y="8912833"/>
              <a:ext cx="636105" cy="125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" name="Picture 2">
              <a:extLst>
                <a:ext uri="{FF2B5EF4-FFF2-40B4-BE49-F238E27FC236}">
                  <a16:creationId xmlns:a16="http://schemas.microsoft.com/office/drawing/2014/main" id="{65A37F5D-CC01-4BB0-8BA8-E6B47C91AF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70" t="50097" r="39245" b="37239"/>
            <a:stretch/>
          </p:blipFill>
          <p:spPr bwMode="auto">
            <a:xfrm>
              <a:off x="4997972" y="9021455"/>
              <a:ext cx="560286" cy="183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9FA3312B-B799-402C-8F77-2E3A00DCA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056" y="8920360"/>
              <a:ext cx="567954" cy="110189"/>
            </a:xfrm>
            <a:prstGeom prst="rect">
              <a:avLst/>
            </a:prstGeom>
          </p:spPr>
        </p:pic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A6B3241-EFCA-4EFA-BB2B-8EC32E8B2812}"/>
                </a:ext>
              </a:extLst>
            </p:cNvPr>
            <p:cNvSpPr txBox="1"/>
            <p:nvPr/>
          </p:nvSpPr>
          <p:spPr>
            <a:xfrm>
              <a:off x="4595850" y="9749197"/>
              <a:ext cx="1432682" cy="156636"/>
            </a:xfrm>
            <a:prstGeom prst="roundRect">
              <a:avLst/>
            </a:prstGeom>
            <a:solidFill>
              <a:srgbClr val="E5E2D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>
              <a:defPPr>
                <a:defRPr lang="ko-KR"/>
              </a:defPPr>
              <a:lvl1pPr algn="ctr">
                <a:defRPr sz="1400" b="0">
                  <a:solidFill>
                    <a:srgbClr val="735D39"/>
                  </a:solidFill>
                  <a:latin typeface="원신한 Medium" panose="020B0603000000000000" pitchFamily="50" charset="-127"/>
                  <a:ea typeface="원신한 Medium" panose="020B0603000000000000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 err="1"/>
                <a:t>확정금리형</a:t>
              </a:r>
              <a:r>
                <a:rPr lang="ko-KR" altLang="en-US" sz="400" dirty="0"/>
                <a:t> </a:t>
              </a:r>
              <a:r>
                <a:rPr lang="ko-KR" altLang="en-US" sz="400" dirty="0" err="1"/>
                <a:t>구조화상품</a:t>
              </a:r>
              <a:endParaRPr lang="ko-KR" altLang="en-US" sz="400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7D086BDE-9A26-4C84-BAD0-A85B4893A7F9}"/>
              </a:ext>
            </a:extLst>
          </p:cNvPr>
          <p:cNvGrpSpPr/>
          <p:nvPr/>
        </p:nvGrpSpPr>
        <p:grpSpPr>
          <a:xfrm>
            <a:off x="2916535" y="7506940"/>
            <a:ext cx="1656184" cy="2436731"/>
            <a:chOff x="2849699" y="7727070"/>
            <a:chExt cx="1656184" cy="2436731"/>
          </a:xfrm>
        </p:grpSpPr>
        <p:sp>
          <p:nvSpPr>
            <p:cNvPr id="127" name="텍스트 개체 틀 2">
              <a:extLst>
                <a:ext uri="{FF2B5EF4-FFF2-40B4-BE49-F238E27FC236}">
                  <a16:creationId xmlns:a16="http://schemas.microsoft.com/office/drawing/2014/main" id="{F9CEF989-ADAF-4A2D-8D9B-7ABE63264D79}"/>
                </a:ext>
              </a:extLst>
            </p:cNvPr>
            <p:cNvSpPr txBox="1">
              <a:spLocks/>
            </p:cNvSpPr>
            <p:nvPr/>
          </p:nvSpPr>
          <p:spPr>
            <a:xfrm>
              <a:off x="2968912" y="7727070"/>
              <a:ext cx="1418248" cy="430040"/>
            </a:xfrm>
            <a:prstGeom prst="rect">
              <a:avLst/>
            </a:prstGeom>
          </p:spPr>
          <p:txBody>
            <a:bodyPr vert="horz" lIns="63639" tIns="33092" rIns="63639" bIns="33092" rtlCol="0">
              <a:noAutofit/>
            </a:bodyPr>
            <a:lstStyle>
              <a:lvl1pPr marL="373395" indent="-373395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022" indent="-311162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44649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42508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40367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38226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6086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945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805" indent="-248929" algn="l" defTabSz="99572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4000"/>
                </a:lnSpc>
                <a:spcBef>
                  <a:spcPts val="0"/>
                </a:spcBef>
                <a:buNone/>
              </a:pPr>
              <a:r>
                <a:rPr lang="ko-KR" altLang="en-US" sz="800" dirty="0">
                  <a:solidFill>
                    <a:srgbClr val="00327F"/>
                  </a:solidFill>
                  <a:latin typeface="원신한 Medium" pitchFamily="50" charset="-127"/>
                  <a:ea typeface="원신한 Medium" pitchFamily="50" charset="-127"/>
                </a:rPr>
                <a:t>제공 가능한 상품 구성</a:t>
              </a:r>
              <a:endParaRPr lang="en-US" altLang="ko-KR" sz="800" dirty="0">
                <a:solidFill>
                  <a:srgbClr val="00327F"/>
                </a:solidFill>
                <a:latin typeface="원신한 Medium" pitchFamily="50" charset="-127"/>
                <a:ea typeface="원신한 Medium" pitchFamily="50" charset="-127"/>
              </a:endParaRPr>
            </a:p>
            <a:p>
              <a:pPr marL="0" indent="0" algn="ctr">
                <a:lnSpc>
                  <a:spcPct val="114000"/>
                </a:lnSpc>
                <a:spcBef>
                  <a:spcPts val="0"/>
                </a:spcBef>
                <a:buNone/>
              </a:pPr>
              <a:r>
                <a:rPr lang="en-US" altLang="ko-KR" sz="1050" dirty="0">
                  <a:solidFill>
                    <a:srgbClr val="00327F"/>
                  </a:solidFill>
                  <a:latin typeface="원신한 Medium" pitchFamily="50" charset="-127"/>
                  <a:ea typeface="원신한 Medium" pitchFamily="50" charset="-127"/>
                </a:rPr>
                <a:t>1,451</a:t>
              </a:r>
            </a:p>
          </p:txBody>
        </p: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2B07D045-87F7-444B-A204-136B11D8CA96}"/>
                </a:ext>
              </a:extLst>
            </p:cNvPr>
            <p:cNvGrpSpPr/>
            <p:nvPr/>
          </p:nvGrpSpPr>
          <p:grpSpPr>
            <a:xfrm>
              <a:off x="2978042" y="8216389"/>
              <a:ext cx="1399989" cy="1393585"/>
              <a:chOff x="3974370" y="3564607"/>
              <a:chExt cx="2744660" cy="2732107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F862DF25-7793-4E26-89FA-CD8810F75AB3}"/>
                  </a:ext>
                </a:extLst>
              </p:cNvPr>
              <p:cNvGrpSpPr/>
              <p:nvPr/>
            </p:nvGrpSpPr>
            <p:grpSpPr>
              <a:xfrm rot="10800000">
                <a:off x="3974370" y="4942848"/>
                <a:ext cx="2744660" cy="1353866"/>
                <a:chOff x="3978548" y="3564607"/>
                <a:chExt cx="2744660" cy="1353866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8D9613B1-3CDA-40F1-A276-DC20BE12DCE3}"/>
                    </a:ext>
                  </a:extLst>
                </p:cNvPr>
                <p:cNvGrpSpPr/>
                <p:nvPr/>
              </p:nvGrpSpPr>
              <p:grpSpPr>
                <a:xfrm>
                  <a:off x="3978548" y="3564607"/>
                  <a:ext cx="1356398" cy="1353866"/>
                  <a:chOff x="3978548" y="3564607"/>
                  <a:chExt cx="1356398" cy="1353866"/>
                </a:xfrm>
              </p:grpSpPr>
              <p:sp>
                <p:nvSpPr>
                  <p:cNvPr id="221" name="Freeform 5">
                    <a:extLst>
                      <a:ext uri="{FF2B5EF4-FFF2-40B4-BE49-F238E27FC236}">
                        <a16:creationId xmlns:a16="http://schemas.microsoft.com/office/drawing/2014/main" id="{3DBA39CC-B548-4B8B-9EC9-C176303A27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0047" y="3564607"/>
                    <a:ext cx="944899" cy="1331826"/>
                  </a:xfrm>
                  <a:custGeom>
                    <a:avLst/>
                    <a:gdLst>
                      <a:gd name="T0" fmla="*/ 479 w 479"/>
                      <a:gd name="T1" fmla="*/ 0 h 676"/>
                      <a:gd name="T2" fmla="*/ 0 w 479"/>
                      <a:gd name="T3" fmla="*/ 197 h 676"/>
                      <a:gd name="T4" fmla="*/ 479 w 479"/>
                      <a:gd name="T5" fmla="*/ 676 h 676"/>
                      <a:gd name="T6" fmla="*/ 479 w 479"/>
                      <a:gd name="T7" fmla="*/ 0 h 6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79" h="676">
                        <a:moveTo>
                          <a:pt x="479" y="0"/>
                        </a:moveTo>
                        <a:cubicBezTo>
                          <a:pt x="292" y="1"/>
                          <a:pt x="123" y="76"/>
                          <a:pt x="0" y="197"/>
                        </a:cubicBezTo>
                        <a:cubicBezTo>
                          <a:pt x="479" y="676"/>
                          <a:pt x="479" y="676"/>
                          <a:pt x="479" y="676"/>
                        </a:cubicBezTo>
                        <a:lnTo>
                          <a:pt x="479" y="0"/>
                        </a:lnTo>
                        <a:close/>
                      </a:path>
                    </a:pathLst>
                  </a:custGeom>
                  <a:solidFill>
                    <a:srgbClr val="D7E2F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rgbClr val="112369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  <p:sp>
                <p:nvSpPr>
                  <p:cNvPr id="222" name="Freeform 9">
                    <a:extLst>
                      <a:ext uri="{FF2B5EF4-FFF2-40B4-BE49-F238E27FC236}">
                        <a16:creationId xmlns:a16="http://schemas.microsoft.com/office/drawing/2014/main" id="{3A9E0884-777D-4F4C-82EA-683115D322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78548" y="3972744"/>
                    <a:ext cx="1339298" cy="945729"/>
                  </a:xfrm>
                  <a:custGeom>
                    <a:avLst/>
                    <a:gdLst>
                      <a:gd name="T0" fmla="*/ 201 w 680"/>
                      <a:gd name="T1" fmla="*/ 0 h 479"/>
                      <a:gd name="T2" fmla="*/ 0 w 680"/>
                      <a:gd name="T3" fmla="*/ 479 h 479"/>
                      <a:gd name="T4" fmla="*/ 680 w 680"/>
                      <a:gd name="T5" fmla="*/ 479 h 479"/>
                      <a:gd name="T6" fmla="*/ 201 w 680"/>
                      <a:gd name="T7" fmla="*/ 0 h 4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80" h="479">
                        <a:moveTo>
                          <a:pt x="201" y="0"/>
                        </a:moveTo>
                        <a:cubicBezTo>
                          <a:pt x="78" y="123"/>
                          <a:pt x="2" y="292"/>
                          <a:pt x="0" y="479"/>
                        </a:cubicBezTo>
                        <a:cubicBezTo>
                          <a:pt x="680" y="479"/>
                          <a:pt x="680" y="479"/>
                          <a:pt x="680" y="479"/>
                        </a:cubicBezTo>
                        <a:lnTo>
                          <a:pt x="201" y="0"/>
                        </a:lnTo>
                        <a:close/>
                      </a:path>
                    </a:pathLst>
                  </a:custGeom>
                  <a:solidFill>
                    <a:srgbClr val="BAABCD"/>
                  </a:solidFill>
                  <a:ln w="9525">
                    <a:noFill/>
                    <a:round/>
                    <a:headEnd/>
                    <a:tailEnd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ko-KR" altLang="en-US" sz="900" dirty="0">
                      <a:solidFill>
                        <a:srgbClr val="021C6A"/>
                      </a:solidFill>
                      <a:latin typeface="원신한 Medium" pitchFamily="50" charset="-127"/>
                      <a:ea typeface="원신한 Medium" pitchFamily="50" charset="-127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18" name="그룹 217">
                  <a:extLst>
                    <a:ext uri="{FF2B5EF4-FFF2-40B4-BE49-F238E27FC236}">
                      <a16:creationId xmlns:a16="http://schemas.microsoft.com/office/drawing/2014/main" id="{FA980D9F-16D5-4BA0-86E5-3FD0A9DDBCE2}"/>
                    </a:ext>
                  </a:extLst>
                </p:cNvPr>
                <p:cNvGrpSpPr/>
                <p:nvPr/>
              </p:nvGrpSpPr>
              <p:grpSpPr>
                <a:xfrm flipH="1">
                  <a:off x="5366810" y="3564607"/>
                  <a:ext cx="1356398" cy="1353866"/>
                  <a:chOff x="3983311" y="3564607"/>
                  <a:chExt cx="1356398" cy="1353866"/>
                </a:xfrm>
              </p:grpSpPr>
              <p:sp>
                <p:nvSpPr>
                  <p:cNvPr id="219" name="Freeform 5">
                    <a:extLst>
                      <a:ext uri="{FF2B5EF4-FFF2-40B4-BE49-F238E27FC236}">
                        <a16:creationId xmlns:a16="http://schemas.microsoft.com/office/drawing/2014/main" id="{807D6732-5C23-4791-B13F-DC3EEABCB6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4810" y="3564607"/>
                    <a:ext cx="944899" cy="1331826"/>
                  </a:xfrm>
                  <a:custGeom>
                    <a:avLst/>
                    <a:gdLst>
                      <a:gd name="T0" fmla="*/ 479 w 479"/>
                      <a:gd name="T1" fmla="*/ 0 h 676"/>
                      <a:gd name="T2" fmla="*/ 0 w 479"/>
                      <a:gd name="T3" fmla="*/ 197 h 676"/>
                      <a:gd name="T4" fmla="*/ 479 w 479"/>
                      <a:gd name="T5" fmla="*/ 676 h 676"/>
                      <a:gd name="T6" fmla="*/ 479 w 479"/>
                      <a:gd name="T7" fmla="*/ 0 h 6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79" h="676">
                        <a:moveTo>
                          <a:pt x="479" y="0"/>
                        </a:moveTo>
                        <a:cubicBezTo>
                          <a:pt x="292" y="1"/>
                          <a:pt x="123" y="76"/>
                          <a:pt x="0" y="197"/>
                        </a:cubicBezTo>
                        <a:cubicBezTo>
                          <a:pt x="479" y="676"/>
                          <a:pt x="479" y="676"/>
                          <a:pt x="479" y="676"/>
                        </a:cubicBezTo>
                        <a:lnTo>
                          <a:pt x="479" y="0"/>
                        </a:lnTo>
                        <a:close/>
                      </a:path>
                    </a:pathLst>
                  </a:custGeom>
                  <a:solidFill>
                    <a:srgbClr val="BBCDE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rgbClr val="112369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  <p:sp>
                <p:nvSpPr>
                  <p:cNvPr id="220" name="Freeform 9">
                    <a:extLst>
                      <a:ext uri="{FF2B5EF4-FFF2-40B4-BE49-F238E27FC236}">
                        <a16:creationId xmlns:a16="http://schemas.microsoft.com/office/drawing/2014/main" id="{B516ED81-DC57-4791-B191-17517D08A4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311" y="3972744"/>
                    <a:ext cx="1339298" cy="945729"/>
                  </a:xfrm>
                  <a:custGeom>
                    <a:avLst/>
                    <a:gdLst>
                      <a:gd name="T0" fmla="*/ 201 w 680"/>
                      <a:gd name="T1" fmla="*/ 0 h 479"/>
                      <a:gd name="T2" fmla="*/ 0 w 680"/>
                      <a:gd name="T3" fmla="*/ 479 h 479"/>
                      <a:gd name="T4" fmla="*/ 680 w 680"/>
                      <a:gd name="T5" fmla="*/ 479 h 479"/>
                      <a:gd name="T6" fmla="*/ 201 w 680"/>
                      <a:gd name="T7" fmla="*/ 0 h 4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80" h="479">
                        <a:moveTo>
                          <a:pt x="201" y="0"/>
                        </a:moveTo>
                        <a:cubicBezTo>
                          <a:pt x="78" y="123"/>
                          <a:pt x="2" y="292"/>
                          <a:pt x="0" y="479"/>
                        </a:cubicBezTo>
                        <a:cubicBezTo>
                          <a:pt x="680" y="479"/>
                          <a:pt x="680" y="479"/>
                          <a:pt x="680" y="479"/>
                        </a:cubicBezTo>
                        <a:lnTo>
                          <a:pt x="201" y="0"/>
                        </a:lnTo>
                        <a:close/>
                      </a:path>
                    </a:pathLst>
                  </a:custGeom>
                  <a:solidFill>
                    <a:srgbClr val="96B3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rgbClr val="112369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</p:grp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E589A7F5-AAAE-489F-8E86-BCEE61B9330B}"/>
                  </a:ext>
                </a:extLst>
              </p:cNvPr>
              <p:cNvGrpSpPr/>
              <p:nvPr/>
            </p:nvGrpSpPr>
            <p:grpSpPr>
              <a:xfrm>
                <a:off x="3974370" y="3564607"/>
                <a:ext cx="2744660" cy="1353866"/>
                <a:chOff x="3978548" y="3564607"/>
                <a:chExt cx="2744660" cy="1353866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0985137C-90EB-45E2-B5A1-606D7C06D655}"/>
                    </a:ext>
                  </a:extLst>
                </p:cNvPr>
                <p:cNvGrpSpPr/>
                <p:nvPr/>
              </p:nvGrpSpPr>
              <p:grpSpPr>
                <a:xfrm>
                  <a:off x="3978548" y="3564607"/>
                  <a:ext cx="1356398" cy="1353866"/>
                  <a:chOff x="3978548" y="3564607"/>
                  <a:chExt cx="1356398" cy="1353866"/>
                </a:xfrm>
              </p:grpSpPr>
              <p:sp>
                <p:nvSpPr>
                  <p:cNvPr id="215" name="Freeform 5">
                    <a:extLst>
                      <a:ext uri="{FF2B5EF4-FFF2-40B4-BE49-F238E27FC236}">
                        <a16:creationId xmlns:a16="http://schemas.microsoft.com/office/drawing/2014/main" id="{791222A6-E7FD-4391-A8E9-C75B60F860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0047" y="3564607"/>
                    <a:ext cx="944899" cy="1331826"/>
                  </a:xfrm>
                  <a:custGeom>
                    <a:avLst/>
                    <a:gdLst>
                      <a:gd name="T0" fmla="*/ 479 w 479"/>
                      <a:gd name="T1" fmla="*/ 0 h 676"/>
                      <a:gd name="T2" fmla="*/ 0 w 479"/>
                      <a:gd name="T3" fmla="*/ 197 h 676"/>
                      <a:gd name="T4" fmla="*/ 479 w 479"/>
                      <a:gd name="T5" fmla="*/ 676 h 676"/>
                      <a:gd name="T6" fmla="*/ 479 w 479"/>
                      <a:gd name="T7" fmla="*/ 0 h 6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79" h="676">
                        <a:moveTo>
                          <a:pt x="479" y="0"/>
                        </a:moveTo>
                        <a:cubicBezTo>
                          <a:pt x="292" y="1"/>
                          <a:pt x="123" y="76"/>
                          <a:pt x="0" y="197"/>
                        </a:cubicBezTo>
                        <a:cubicBezTo>
                          <a:pt x="479" y="676"/>
                          <a:pt x="479" y="676"/>
                          <a:pt x="479" y="676"/>
                        </a:cubicBezTo>
                        <a:lnTo>
                          <a:pt x="479" y="0"/>
                        </a:lnTo>
                        <a:close/>
                      </a:path>
                    </a:pathLst>
                  </a:custGeom>
                  <a:solidFill>
                    <a:srgbClr val="3DA5C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chemeClr val="bg1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  <p:sp>
                <p:nvSpPr>
                  <p:cNvPr id="216" name="Freeform 9">
                    <a:extLst>
                      <a:ext uri="{FF2B5EF4-FFF2-40B4-BE49-F238E27FC236}">
                        <a16:creationId xmlns:a16="http://schemas.microsoft.com/office/drawing/2014/main" id="{42A880E4-C838-4D79-8231-9D0703F0B0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78548" y="3972744"/>
                    <a:ext cx="1339298" cy="945729"/>
                  </a:xfrm>
                  <a:custGeom>
                    <a:avLst/>
                    <a:gdLst>
                      <a:gd name="T0" fmla="*/ 201 w 680"/>
                      <a:gd name="T1" fmla="*/ 0 h 479"/>
                      <a:gd name="T2" fmla="*/ 0 w 680"/>
                      <a:gd name="T3" fmla="*/ 479 h 479"/>
                      <a:gd name="T4" fmla="*/ 680 w 680"/>
                      <a:gd name="T5" fmla="*/ 479 h 479"/>
                      <a:gd name="T6" fmla="*/ 201 w 680"/>
                      <a:gd name="T7" fmla="*/ 0 h 4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80" h="479">
                        <a:moveTo>
                          <a:pt x="201" y="0"/>
                        </a:moveTo>
                        <a:cubicBezTo>
                          <a:pt x="78" y="123"/>
                          <a:pt x="2" y="292"/>
                          <a:pt x="0" y="479"/>
                        </a:cubicBezTo>
                        <a:cubicBezTo>
                          <a:pt x="680" y="479"/>
                          <a:pt x="680" y="479"/>
                          <a:pt x="680" y="479"/>
                        </a:cubicBezTo>
                        <a:lnTo>
                          <a:pt x="201" y="0"/>
                        </a:lnTo>
                        <a:close/>
                      </a:path>
                    </a:pathLst>
                  </a:custGeom>
                  <a:solidFill>
                    <a:srgbClr val="67B9C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chemeClr val="bg1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</p:grpSp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013CC23C-C1E7-4649-BA2B-3FA5A29511A3}"/>
                    </a:ext>
                  </a:extLst>
                </p:cNvPr>
                <p:cNvGrpSpPr/>
                <p:nvPr/>
              </p:nvGrpSpPr>
              <p:grpSpPr>
                <a:xfrm flipH="1">
                  <a:off x="5366810" y="3564607"/>
                  <a:ext cx="1356398" cy="1353866"/>
                  <a:chOff x="3983311" y="3564607"/>
                  <a:chExt cx="1356398" cy="1353866"/>
                </a:xfrm>
              </p:grpSpPr>
              <p:sp>
                <p:nvSpPr>
                  <p:cNvPr id="213" name="Freeform 5">
                    <a:extLst>
                      <a:ext uri="{FF2B5EF4-FFF2-40B4-BE49-F238E27FC236}">
                        <a16:creationId xmlns:a16="http://schemas.microsoft.com/office/drawing/2014/main" id="{820EF717-CC8C-4F66-874F-C48F4D86E0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4810" y="3564607"/>
                    <a:ext cx="944899" cy="1331826"/>
                  </a:xfrm>
                  <a:custGeom>
                    <a:avLst/>
                    <a:gdLst>
                      <a:gd name="T0" fmla="*/ 479 w 479"/>
                      <a:gd name="T1" fmla="*/ 0 h 676"/>
                      <a:gd name="T2" fmla="*/ 0 w 479"/>
                      <a:gd name="T3" fmla="*/ 197 h 676"/>
                      <a:gd name="T4" fmla="*/ 479 w 479"/>
                      <a:gd name="T5" fmla="*/ 676 h 676"/>
                      <a:gd name="T6" fmla="*/ 479 w 479"/>
                      <a:gd name="T7" fmla="*/ 0 h 6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79" h="676">
                        <a:moveTo>
                          <a:pt x="479" y="0"/>
                        </a:moveTo>
                        <a:cubicBezTo>
                          <a:pt x="292" y="1"/>
                          <a:pt x="123" y="76"/>
                          <a:pt x="0" y="197"/>
                        </a:cubicBezTo>
                        <a:cubicBezTo>
                          <a:pt x="479" y="676"/>
                          <a:pt x="479" y="676"/>
                          <a:pt x="479" y="676"/>
                        </a:cubicBezTo>
                        <a:lnTo>
                          <a:pt x="479" y="0"/>
                        </a:lnTo>
                        <a:close/>
                      </a:path>
                    </a:pathLst>
                  </a:custGeom>
                  <a:solidFill>
                    <a:srgbClr val="31849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61704" tIns="30853" rIns="61704" bIns="30853" rtlCol="0" anchor="ctr"/>
                  <a:lstStyle/>
                  <a:p>
                    <a:pPr algn="ctr" defTabSz="617051"/>
                    <a:endParaRPr lang="ko-KR" altLang="en-US" sz="400" dirty="0">
                      <a:solidFill>
                        <a:schemeClr val="bg1"/>
                      </a:solidFill>
                      <a:latin typeface="원신한 Medium" pitchFamily="50" charset="-127"/>
                      <a:ea typeface="원신한 Medium" pitchFamily="50" charset="-127"/>
                    </a:endParaRPr>
                  </a:p>
                </p:txBody>
              </p:sp>
              <p:sp>
                <p:nvSpPr>
                  <p:cNvPr id="214" name="Freeform 9">
                    <a:extLst>
                      <a:ext uri="{FF2B5EF4-FFF2-40B4-BE49-F238E27FC236}">
                        <a16:creationId xmlns:a16="http://schemas.microsoft.com/office/drawing/2014/main" id="{39054044-2E31-4538-A456-DC97269881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311" y="3972744"/>
                    <a:ext cx="1339298" cy="945729"/>
                  </a:xfrm>
                  <a:custGeom>
                    <a:avLst/>
                    <a:gdLst>
                      <a:gd name="T0" fmla="*/ 201 w 680"/>
                      <a:gd name="T1" fmla="*/ 0 h 479"/>
                      <a:gd name="T2" fmla="*/ 0 w 680"/>
                      <a:gd name="T3" fmla="*/ 479 h 479"/>
                      <a:gd name="T4" fmla="*/ 680 w 680"/>
                      <a:gd name="T5" fmla="*/ 479 h 479"/>
                      <a:gd name="T6" fmla="*/ 201 w 680"/>
                      <a:gd name="T7" fmla="*/ 0 h 4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80" h="479">
                        <a:moveTo>
                          <a:pt x="201" y="0"/>
                        </a:moveTo>
                        <a:cubicBezTo>
                          <a:pt x="78" y="123"/>
                          <a:pt x="2" y="292"/>
                          <a:pt x="0" y="479"/>
                        </a:cubicBezTo>
                        <a:cubicBezTo>
                          <a:pt x="680" y="479"/>
                          <a:pt x="680" y="479"/>
                          <a:pt x="680" y="479"/>
                        </a:cubicBezTo>
                        <a:lnTo>
                          <a:pt x="201" y="0"/>
                        </a:lnTo>
                        <a:close/>
                      </a:path>
                    </a:pathLst>
                  </a:custGeom>
                  <a:solidFill>
                    <a:srgbClr val="9F89B9"/>
                  </a:solidFill>
                  <a:ln w="9525">
                    <a:noFill/>
                    <a:round/>
                    <a:headEnd/>
                    <a:tailEnd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ko-KR" altLang="en-US" sz="900" b="1" dirty="0">
                      <a:solidFill>
                        <a:srgbClr val="021C6A"/>
                      </a:solidFill>
                      <a:latin typeface="원신한 Medium" pitchFamily="50" charset="-127"/>
                      <a:ea typeface="원신한 Medium" pitchFamily="50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541A7B0-6252-41B8-8F9D-739CF9AAC48F}"/>
                </a:ext>
              </a:extLst>
            </p:cNvPr>
            <p:cNvSpPr txBox="1"/>
            <p:nvPr/>
          </p:nvSpPr>
          <p:spPr>
            <a:xfrm>
              <a:off x="3661194" y="8319085"/>
              <a:ext cx="367297" cy="226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chemeClr val="bg1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 err="1">
                  <a:latin typeface="원신한 Medium" pitchFamily="50" charset="-127"/>
                  <a:ea typeface="원신한 Medium" pitchFamily="50" charset="-127"/>
                </a:rPr>
                <a:t>채권형</a:t>
              </a:r>
              <a:endParaRPr lang="en-US" altLang="ko-KR" sz="400" dirty="0">
                <a:latin typeface="원신한 Medium" pitchFamily="50" charset="-127"/>
                <a:ea typeface="원신한 Medium" pitchFamily="50" charset="-127"/>
              </a:endParaRPr>
            </a:p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펀드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1F9A621-1525-4255-811A-8BE652242796}"/>
                </a:ext>
              </a:extLst>
            </p:cNvPr>
            <p:cNvSpPr txBox="1"/>
            <p:nvPr/>
          </p:nvSpPr>
          <p:spPr>
            <a:xfrm>
              <a:off x="3330626" y="8319085"/>
              <a:ext cx="367297" cy="226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chemeClr val="bg1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인덱스</a:t>
              </a:r>
              <a:endParaRPr lang="en-US" altLang="ko-KR" sz="400" dirty="0">
                <a:latin typeface="원신한 Medium" pitchFamily="50" charset="-127"/>
                <a:ea typeface="원신한 Medium" pitchFamily="50" charset="-127"/>
              </a:endParaRPr>
            </a:p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펀드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B6F83A-5BFF-4432-9440-805851BEB17C}"/>
                </a:ext>
              </a:extLst>
            </p:cNvPr>
            <p:cNvSpPr txBox="1"/>
            <p:nvPr/>
          </p:nvSpPr>
          <p:spPr>
            <a:xfrm>
              <a:off x="3874444" y="8666463"/>
              <a:ext cx="501455" cy="157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lang="ko-KR" altLang="en-US" sz="40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Arial" panose="020B0604020202020204" pitchFamily="34" charset="0"/>
                </a:rPr>
                <a:t>정기예금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F247AD2-EC98-48F4-AC5D-CBFFA78C2560}"/>
                </a:ext>
              </a:extLst>
            </p:cNvPr>
            <p:cNvSpPr txBox="1"/>
            <p:nvPr/>
          </p:nvSpPr>
          <p:spPr>
            <a:xfrm>
              <a:off x="3857166" y="8944764"/>
              <a:ext cx="501455" cy="134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rgbClr val="112369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en-US" altLang="ko-KR" sz="400" dirty="0">
                  <a:solidFill>
                    <a:srgbClr val="381850"/>
                  </a:solidFill>
                  <a:latin typeface="원신한 Medium" pitchFamily="50" charset="-127"/>
                  <a:ea typeface="원신한 Medium" pitchFamily="50" charset="-127"/>
                </a:rPr>
                <a:t>ELS, GIC</a:t>
              </a:r>
            </a:p>
            <a:p>
              <a:r>
                <a:rPr lang="ko-KR" altLang="en-US" sz="400" dirty="0">
                  <a:solidFill>
                    <a:srgbClr val="381850"/>
                  </a:solidFill>
                  <a:latin typeface="원신한 Medium" pitchFamily="50" charset="-127"/>
                  <a:ea typeface="원신한 Medium" pitchFamily="50" charset="-127"/>
                </a:rPr>
                <a:t>구조화</a:t>
              </a:r>
              <a:endParaRPr lang="en-US" altLang="ko-KR" sz="400" dirty="0">
                <a:solidFill>
                  <a:srgbClr val="381850"/>
                </a:solidFill>
                <a:latin typeface="원신한 Medium" pitchFamily="50" charset="-127"/>
                <a:ea typeface="원신한 Medium" pitchFamily="50" charset="-127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F5FF47E-C50B-4519-9353-75597D0830E4}"/>
                </a:ext>
              </a:extLst>
            </p:cNvPr>
            <p:cNvSpPr txBox="1"/>
            <p:nvPr/>
          </p:nvSpPr>
          <p:spPr>
            <a:xfrm>
              <a:off x="2996791" y="8632874"/>
              <a:ext cx="497597" cy="134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lang="ko-KR" altLang="en-US" sz="400" dirty="0" err="1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Arial" panose="020B0604020202020204" pitchFamily="34" charset="0"/>
                </a:rPr>
                <a:t>가치주</a:t>
              </a:r>
              <a:endParaRPr lang="en-US" altLang="ko-KR" sz="400" dirty="0">
                <a:solidFill>
                  <a:schemeClr val="bg1"/>
                </a:solidFill>
                <a:latin typeface="원신한 Medium" pitchFamily="50" charset="-127"/>
                <a:ea typeface="원신한 Medium" pitchFamily="50" charset="-127"/>
                <a:cs typeface="Arial" panose="020B0604020202020204" pitchFamily="34" charset="0"/>
              </a:endParaRPr>
            </a:p>
            <a:p>
              <a:pPr algn="ctr">
                <a:lnSpc>
                  <a:spcPct val="112000"/>
                </a:lnSpc>
              </a:pPr>
              <a:r>
                <a:rPr lang="ko-KR" altLang="en-US" sz="40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Arial" panose="020B0604020202020204" pitchFamily="34" charset="0"/>
                </a:rPr>
                <a:t>성장주</a:t>
              </a:r>
              <a:r>
                <a:rPr lang="en-US" altLang="ko-KR" sz="40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400" dirty="0">
                  <a:solidFill>
                    <a:schemeClr val="bg1"/>
                  </a:solidFill>
                  <a:latin typeface="원신한 Medium" pitchFamily="50" charset="-127"/>
                  <a:ea typeface="원신한 Medium" pitchFamily="50" charset="-127"/>
                  <a:cs typeface="Arial" panose="020B0604020202020204" pitchFamily="34" charset="0"/>
                </a:rPr>
                <a:t>펀드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396CA-9703-4F3A-8A2D-79059976865F}"/>
                </a:ext>
              </a:extLst>
            </p:cNvPr>
            <p:cNvSpPr txBox="1"/>
            <p:nvPr/>
          </p:nvSpPr>
          <p:spPr>
            <a:xfrm>
              <a:off x="2999625" y="8940692"/>
              <a:ext cx="501455" cy="134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chemeClr val="bg1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>
                  <a:solidFill>
                    <a:srgbClr val="112369"/>
                  </a:solidFill>
                  <a:latin typeface="원신한 Medium" pitchFamily="50" charset="-127"/>
                  <a:ea typeface="원신한 Medium" pitchFamily="50" charset="-127"/>
                </a:rPr>
                <a:t>미국</a:t>
              </a:r>
              <a:endParaRPr lang="en-US" altLang="ko-KR" sz="400" dirty="0">
                <a:solidFill>
                  <a:srgbClr val="112369"/>
                </a:solidFill>
                <a:latin typeface="원신한 Medium" pitchFamily="50" charset="-127"/>
                <a:ea typeface="원신한 Medium" pitchFamily="50" charset="-127"/>
              </a:endParaRPr>
            </a:p>
            <a:p>
              <a:r>
                <a:rPr lang="ko-KR" altLang="en-US" sz="400" dirty="0" err="1">
                  <a:solidFill>
                    <a:srgbClr val="112369"/>
                  </a:solidFill>
                  <a:latin typeface="원신한 Medium" pitchFamily="50" charset="-127"/>
                  <a:ea typeface="원신한 Medium" pitchFamily="50" charset="-127"/>
                </a:rPr>
                <a:t>브릭스</a:t>
              </a:r>
              <a:endParaRPr lang="ko-KR" altLang="en-US" sz="400" dirty="0">
                <a:solidFill>
                  <a:srgbClr val="112369"/>
                </a:solidFill>
                <a:latin typeface="원신한 Medium" pitchFamily="50" charset="-127"/>
                <a:ea typeface="원신한 Medium" pitchFamily="50" charset="-127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46B22FEB-2FE9-4611-9EA7-6251A1802175}"/>
                </a:ext>
              </a:extLst>
            </p:cNvPr>
            <p:cNvSpPr txBox="1"/>
            <p:nvPr/>
          </p:nvSpPr>
          <p:spPr>
            <a:xfrm>
              <a:off x="3314551" y="9248586"/>
              <a:ext cx="330567" cy="134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rgbClr val="112369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아시아</a:t>
              </a:r>
              <a:endParaRPr lang="en-US" altLang="ko-KR" sz="400" dirty="0">
                <a:latin typeface="원신한 Medium" pitchFamily="50" charset="-127"/>
                <a:ea typeface="원신한 Medium" pitchFamily="50" charset="-127"/>
              </a:endParaRPr>
            </a:p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태평양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C45BDC5E-2FBD-4A41-BA9C-EE17738703BA}"/>
                </a:ext>
              </a:extLst>
            </p:cNvPr>
            <p:cNvSpPr txBox="1"/>
            <p:nvPr/>
          </p:nvSpPr>
          <p:spPr>
            <a:xfrm>
              <a:off x="3708287" y="9305724"/>
              <a:ext cx="330567" cy="654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lnSpc>
                  <a:spcPct val="112000"/>
                </a:lnSpc>
                <a:defRPr sz="1200">
                  <a:solidFill>
                    <a:srgbClr val="112369"/>
                  </a:solidFill>
                  <a:latin typeface="나눔고딕 Bold" pitchFamily="50" charset="-127"/>
                  <a:ea typeface="나눔고딕 Bold" pitchFamily="50" charset="-127"/>
                  <a:cs typeface="Arial" panose="020B0604020202020204" pitchFamily="34" charset="0"/>
                </a:defRPr>
              </a:lvl1pPr>
            </a:lstStyle>
            <a:p>
              <a:r>
                <a:rPr lang="ko-KR" altLang="en-US" sz="400" dirty="0">
                  <a:latin typeface="원신한 Medium" pitchFamily="50" charset="-127"/>
                  <a:ea typeface="원신한 Medium" pitchFamily="50" charset="-127"/>
                </a:rPr>
                <a:t>유럽</a:t>
              </a:r>
            </a:p>
          </p:txBody>
        </p: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656D0849-6E85-4E0D-871D-A4BBC83822F6}"/>
                </a:ext>
              </a:extLst>
            </p:cNvPr>
            <p:cNvCxnSpPr/>
            <p:nvPr/>
          </p:nvCxnSpPr>
          <p:spPr>
            <a:xfrm flipV="1">
              <a:off x="4192251" y="8100844"/>
              <a:ext cx="293837" cy="293837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F5B939E4-C693-4F05-80E4-21963DCF56A9}"/>
                </a:ext>
              </a:extLst>
            </p:cNvPr>
            <p:cNvCxnSpPr/>
            <p:nvPr/>
          </p:nvCxnSpPr>
          <p:spPr>
            <a:xfrm>
              <a:off x="4192251" y="9416634"/>
              <a:ext cx="293837" cy="293837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모서리가 둥근 직사각형 71">
              <a:extLst>
                <a:ext uri="{FF2B5EF4-FFF2-40B4-BE49-F238E27FC236}">
                  <a16:creationId xmlns:a16="http://schemas.microsoft.com/office/drawing/2014/main" id="{610F4D6F-93B4-4508-B9F0-14E281E44A9C}"/>
                </a:ext>
              </a:extLst>
            </p:cNvPr>
            <p:cNvSpPr/>
            <p:nvPr/>
          </p:nvSpPr>
          <p:spPr>
            <a:xfrm>
              <a:off x="2873694" y="9779743"/>
              <a:ext cx="487645" cy="124055"/>
            </a:xfrm>
            <a:prstGeom prst="roundRect">
              <a:avLst>
                <a:gd name="adj" fmla="val 50000"/>
              </a:avLst>
            </a:prstGeom>
            <a:solidFill>
              <a:srgbClr val="FFE6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 sz="900" dirty="0"/>
            </a:p>
          </p:txBody>
        </p:sp>
        <p:sp>
          <p:nvSpPr>
            <p:cNvPr id="190" name="모서리가 둥근 직사각형 73">
              <a:extLst>
                <a:ext uri="{FF2B5EF4-FFF2-40B4-BE49-F238E27FC236}">
                  <a16:creationId xmlns:a16="http://schemas.microsoft.com/office/drawing/2014/main" id="{BFFA8894-1555-407E-BA75-7CB94F973889}"/>
                </a:ext>
              </a:extLst>
            </p:cNvPr>
            <p:cNvSpPr/>
            <p:nvPr/>
          </p:nvSpPr>
          <p:spPr>
            <a:xfrm>
              <a:off x="2873695" y="10039746"/>
              <a:ext cx="487645" cy="124055"/>
            </a:xfrm>
            <a:prstGeom prst="roundRect">
              <a:avLst>
                <a:gd name="adj" fmla="val 50000"/>
              </a:avLst>
            </a:prstGeom>
            <a:solidFill>
              <a:srgbClr val="FFE6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x-none" altLang="en-US" sz="900" dirty="0"/>
            </a:p>
          </p:txBody>
        </p:sp>
        <p:pic>
          <p:nvPicPr>
            <p:cNvPr id="200" name="그래픽 312">
              <a:extLst>
                <a:ext uri="{FF2B5EF4-FFF2-40B4-BE49-F238E27FC236}">
                  <a16:creationId xmlns:a16="http://schemas.microsoft.com/office/drawing/2014/main" id="{C53BC03B-4A31-4795-A46A-05931D280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927480" y="9973194"/>
              <a:ext cx="380110" cy="142502"/>
            </a:xfrm>
            <a:prstGeom prst="rect">
              <a:avLst/>
            </a:prstGeom>
          </p:spPr>
        </p:pic>
        <p:pic>
          <p:nvPicPr>
            <p:cNvPr id="201" name="그래픽 482">
              <a:extLst>
                <a:ext uri="{FF2B5EF4-FFF2-40B4-BE49-F238E27FC236}">
                  <a16:creationId xmlns:a16="http://schemas.microsoft.com/office/drawing/2014/main" id="{6198E649-1A28-49B2-A8CD-EF04D46FF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381504" y="9828249"/>
              <a:ext cx="721214" cy="75548"/>
            </a:xfrm>
            <a:prstGeom prst="rect">
              <a:avLst/>
            </a:prstGeom>
          </p:spPr>
        </p:pic>
        <p:pic>
          <p:nvPicPr>
            <p:cNvPr id="206" name="그래픽 310">
              <a:extLst>
                <a:ext uri="{FF2B5EF4-FFF2-40B4-BE49-F238E27FC236}">
                  <a16:creationId xmlns:a16="http://schemas.microsoft.com/office/drawing/2014/main" id="{B814EB9E-4F29-45F9-AF1C-148B58895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381285" y="10087968"/>
              <a:ext cx="1124598" cy="75287"/>
            </a:xfrm>
            <a:prstGeom prst="rect">
              <a:avLst/>
            </a:prstGeom>
          </p:spPr>
        </p:pic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90378E7-A484-4FF2-8D43-8B0979012CFD}"/>
                </a:ext>
              </a:extLst>
            </p:cNvPr>
            <p:cNvSpPr txBox="1"/>
            <p:nvPr/>
          </p:nvSpPr>
          <p:spPr>
            <a:xfrm>
              <a:off x="2849699" y="9623714"/>
              <a:ext cx="52931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dirty="0">
                  <a:solidFill>
                    <a:srgbClr val="0046FF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ETF</a:t>
              </a:r>
              <a:endParaRPr lang="ko-KR" altLang="en-US" sz="1300" dirty="0">
                <a:solidFill>
                  <a:srgbClr val="0046FF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AEAE1461-E183-418D-91F3-BF6853E073FA}"/>
              </a:ext>
            </a:extLst>
          </p:cNvPr>
          <p:cNvSpPr/>
          <p:nvPr/>
        </p:nvSpPr>
        <p:spPr>
          <a:xfrm>
            <a:off x="414257" y="1058623"/>
            <a:ext cx="6534726" cy="45719"/>
          </a:xfrm>
          <a:prstGeom prst="rect">
            <a:avLst/>
          </a:prstGeom>
          <a:solidFill>
            <a:srgbClr val="002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latin typeface="원신한 Light" pitchFamily="50" charset="-127"/>
              <a:ea typeface="원신한 Light" pitchFamily="50" charset="-127"/>
            </a:endParaRPr>
          </a:p>
        </p:txBody>
      </p:sp>
      <p:pic>
        <p:nvPicPr>
          <p:cNvPr id="231" name="그림 230">
            <a:extLst>
              <a:ext uri="{FF2B5EF4-FFF2-40B4-BE49-F238E27FC236}">
                <a16:creationId xmlns:a16="http://schemas.microsoft.com/office/drawing/2014/main" id="{3A0E50B1-2293-4219-8C32-F3563F06551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33" y="228023"/>
            <a:ext cx="574794" cy="870205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FF31ADE5-26A6-4819-8522-76986F3CE888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9" y="128425"/>
            <a:ext cx="1023880" cy="2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5">
      <a:majorFont>
        <a:latin typeface="Calibri"/>
        <a:ea typeface="나눔고딕 Bold"/>
        <a:cs typeface=""/>
      </a:majorFont>
      <a:minorFont>
        <a:latin typeface="나눔고딕 ExtraBold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rgbClr val="DD624A"/>
          </a:solidFill>
          <a:prstDash val="solid"/>
          <a:miter lim="800000"/>
          <a:headEnd type="none"/>
          <a:tailEnd type="triangle" w="med" len="med"/>
        </a:ln>
        <a:effectLst/>
      </a:spPr>
      <a:bodyPr rtlCol="0" anchor="ctr"/>
      <a:lstStyle>
        <a:defPPr marL="88900" indent="-88900">
          <a:spcBef>
            <a:spcPts val="100"/>
          </a:spcBef>
          <a:spcAft>
            <a:spcPts val="100"/>
          </a:spcAft>
          <a:buClr>
            <a:schemeClr val="bg1">
              <a:lumMod val="50000"/>
            </a:schemeClr>
          </a:buClr>
          <a:buSzPct val="90000"/>
          <a:buFont typeface="Arial" pitchFamily="34" charset="0"/>
          <a:buChar char="•"/>
          <a:defRPr sz="1000" dirty="0">
            <a:solidFill>
              <a:srgbClr val="00327F"/>
            </a:solidFill>
            <a:latin typeface="나눔고딕 Bold" pitchFamily="50" charset="-127"/>
            <a:ea typeface="나눔고딕 Bold" pitchFamily="50" charset="-12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SECMDocumentLibraryForm</Display>
  <Edit>SECMDocumentLibraryForm</Edit>
  <New>SECMDocumentLibraryForm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부서함 문서 컨텐츠타입" ma:contentTypeID="0x01010044C64254786844049F7D44627C6FAEFF00353C532A54CA2441B52431A1AB1FCD40" ma:contentTypeVersion="9" ma:contentTypeDescription="" ma:contentTypeScope="" ma:versionID="051f064f6f95570dfb8f982d7255942a">
  <xsd:schema xmlns:xsd="http://www.w3.org/2001/XMLSchema" xmlns:xs="http://www.w3.org/2001/XMLSchema" xmlns:p="http://schemas.microsoft.com/office/2006/metadata/properties" xmlns:ns1="http://schemas.microsoft.com/sharepoint/v3" xmlns:ns2="CF0ABC9F-436F-4C39-935D-D958889942A5" xmlns:ns3="8cd75931-4820-4705-b734-8e3213bc41d8" xmlns:ns4="cf0abc9f-436f-4c39-935d-d958889942a5" targetNamespace="http://schemas.microsoft.com/office/2006/metadata/properties" ma:root="true" ma:fieldsID="227eed64308aca50c1a75e134181928b" ns1:_="" ns2:_="" ns3:_="" ns4:_="">
    <xsd:import namespace="http://schemas.microsoft.com/sharepoint/v3"/>
    <xsd:import namespace="CF0ABC9F-436F-4C39-935D-D958889942A5"/>
    <xsd:import namespace="8cd75931-4820-4705-b734-8e3213bc41d8"/>
    <xsd:import namespace="cf0abc9f-436f-4c39-935d-d958889942a5"/>
    <xsd:element name="properties">
      <xsd:complexType>
        <xsd:sequence>
          <xsd:element name="documentManagement">
            <xsd:complexType>
              <xsd:all>
                <xsd:element ref="ns2:SECM_SearchOption" minOccurs="0"/>
                <xsd:element ref="ns3:TaxKeyword" minOccurs="0"/>
                <xsd:element ref="ns2:SECM_Status" minOccurs="0"/>
                <xsd:element ref="ns1:_UIVersionString" minOccurs="0"/>
                <xsd:element ref="ns2:SECM_Creator" minOccurs="0"/>
                <xsd:element ref="ns2:SECM_FirstDept" minOccurs="0"/>
                <xsd:element ref="ns2:SECM_Author" minOccurs="0"/>
                <xsd:element ref="ns2:SECM_ManagedDept" minOccurs="0"/>
                <xsd:element ref="ns2:SECM_Editor" minOccurs="0"/>
                <xsd:element ref="ns2:SECM_CreateDate" minOccurs="0"/>
                <xsd:element ref="ns2:SECM_ModifiedDate" minOccurs="0"/>
                <xsd:element ref="ns2:SECM_ConservationYears" minOccurs="0"/>
                <xsd:element ref="ns2:SECM_ApprovalNo" minOccurs="0"/>
                <xsd:element ref="ns2:SECM_DocID" minOccurs="0"/>
                <xsd:element ref="ns2:SECM_BookMark" minOccurs="0"/>
                <xsd:element ref="ns2:SECM_PublishStatus" minOccurs="0"/>
                <xsd:element ref="ns3:TaxKeywordTaxHTField" minOccurs="0"/>
                <xsd:element ref="ns3:TaxKeywordTaxHTField" minOccurs="0"/>
                <xsd:element ref="ns3:TaxCatchAll" minOccurs="0"/>
                <xsd:element ref="ns4:p8e18d85fc704bdcb22f5c57f515b400" minOccurs="0"/>
                <xsd:element ref="ns3:TaxCatchAll" minOccurs="0"/>
                <xsd:element ref="ns4:da0d3b05fe5940e099c4d8a1c9f76e9b" minOccurs="0"/>
                <xsd:element ref="ns2:SECM_ViewCnt" minOccurs="0"/>
                <xsd:element ref="ns4:m97906bf6245473798e9f5d3338a9f7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UIVersionString" ma:index="8" nillable="true" ma:displayName="버전" ma:internalName="_UIVersionString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ABC9F-436F-4C39-935D-D958889942A5" elementFormDefault="qualified">
    <xsd:import namespace="http://schemas.microsoft.com/office/2006/documentManagement/types"/>
    <xsd:import namespace="http://schemas.microsoft.com/office/infopath/2007/PartnerControls"/>
    <xsd:element name="SECM_SearchOption" ma:index="2" nillable="true" ma:displayName="검색옵션" ma:internalName="SECM_SearchOption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검색 제외"/>
                  </xsd:restriction>
                </xsd:simpleType>
              </xsd:element>
            </xsd:sequence>
          </xsd:extension>
        </xsd:complexContent>
      </xsd:complexType>
    </xsd:element>
    <xsd:element name="SECM_Status" ma:index="7" nillable="true" ma:displayName="문서상태" ma:default="작성중" ma:internalName="SECM_Status" ma:readOnly="false">
      <xsd:simpleType>
        <xsd:restriction base="dms:Text"/>
      </xsd:simpleType>
    </xsd:element>
    <xsd:element name="SECM_Creator" ma:index="9" nillable="true" ma:displayName="원 소유자" ma:internalName="SECM_Creator" ma:readOnly="false">
      <xsd:simpleType>
        <xsd:restriction base="dms:Unknown"/>
      </xsd:simpleType>
    </xsd:element>
    <xsd:element name="SECM_FirstDept" ma:index="10" nillable="true" ma:displayName="최초 생성부서" ma:internalName="SECM_FirstDept" ma:readOnly="false">
      <xsd:simpleType>
        <xsd:restriction base="dms:Text"/>
      </xsd:simpleType>
    </xsd:element>
    <xsd:element name="SECM_Author" ma:index="11" nillable="true" ma:displayName="소유자" ma:internalName="SECM_Author" ma:readOnly="false">
      <xsd:simpleType>
        <xsd:restriction base="dms:Unknown"/>
      </xsd:simpleType>
    </xsd:element>
    <xsd:element name="SECM_ManagedDept" ma:index="12" nillable="true" ma:displayName="문서 관리부서" ma:internalName="SECM_ManagedDept" ma:readOnly="false">
      <xsd:simpleType>
        <xsd:restriction base="dms:Text"/>
      </xsd:simpleType>
    </xsd:element>
    <xsd:element name="SECM_Editor" ma:index="13" nillable="true" ma:displayName="수정한 사람" ma:internalName="SECM_Editor" ma:readOnly="false">
      <xsd:simpleType>
        <xsd:restriction base="dms:Unknown"/>
      </xsd:simpleType>
    </xsd:element>
    <xsd:element name="SECM_CreateDate" ma:index="14" nillable="true" ma:displayName="만든 날짜" ma:internalName="SECM_CreateDate" ma:readOnly="false">
      <xsd:simpleType>
        <xsd:restriction base="dms:Unknown"/>
      </xsd:simpleType>
    </xsd:element>
    <xsd:element name="SECM_ModifiedDate" ma:index="15" nillable="true" ma:displayName="수정된 날짜" ma:internalName="SECM_ModifiedDate" ma:readOnly="false">
      <xsd:simpleType>
        <xsd:restriction base="dms:Unknown"/>
      </xsd:simpleType>
    </xsd:element>
    <xsd:element name="SECM_ConservationYears" ma:index="16" nillable="true" ma:displayName="보존연한" ma:default="10년" ma:internalName="SECM_ConservationYears" ma:readOnly="false">
      <xsd:simpleType>
        <xsd:restriction base="dms:Text"/>
      </xsd:simpleType>
    </xsd:element>
    <xsd:element name="SECM_ApprovalNo" ma:index="17" nillable="true" ma:displayName="전자결재 번호" ma:internalName="SECM_ApprovalNo" ma:readOnly="false">
      <xsd:simpleType>
        <xsd:restriction base="dms:Text"/>
      </xsd:simpleType>
    </xsd:element>
    <xsd:element name="SECM_DocID" ma:index="18" nillable="true" ma:displayName="문서ID" ma:hidden="true" ma:internalName="SECM_DocID" ma:readOnly="false">
      <xsd:simpleType>
        <xsd:restriction base="dms:Text"/>
      </xsd:simpleType>
    </xsd:element>
    <xsd:element name="SECM_BookMark" ma:index="19" nillable="true" ma:displayName="★" ma:internalName="SECM_BookMark" ma:readOnly="false">
      <xsd:simpleType>
        <xsd:restriction base="dms:Unknown"/>
      </xsd:simpleType>
    </xsd:element>
    <xsd:element name="SECM_PublishStatus" ma:index="23" nillable="true" ma:displayName="문서등록여부" ma:internalName="SECM_PublishStatus" ma:readOnly="false">
      <xsd:simpleType>
        <xsd:restriction base="dms:Unknown"/>
      </xsd:simpleType>
    </xsd:element>
    <xsd:element name="SECM_ViewCnt" ma:index="34" nillable="true" ma:displayName="조회수" ma:default="0" ma:internalName="SECM_ViewC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d75931-4820-4705-b734-8e3213bc41d8" elementFormDefault="qualified">
    <xsd:import namespace="http://schemas.microsoft.com/office/2006/documentManagement/types"/>
    <xsd:import namespace="http://schemas.microsoft.com/office/infopath/2007/PartnerControls"/>
    <xsd:element name="TaxKeyword" ma:index="3" nillable="true" ma:displayName="태그" ma:description="태그는 쉬운 검색 및 필터링은 물론, 메타데이터 일관성과 재사용을 위해 다른 사용자 및 응용 프로그램과 공유됩니다." ma:list="{fe182840-6861-4d50-8ab6-22b17ae2e90b}" ma:internalName="_x0024_Resources_x003a_Shinhan_x002e_SECM_x002c_SECM_Tag_x003b_" ma:showField="Term1042" ma:web="8cd75931-4820-4705-b734-8e3213bc41d8">
      <xsd:simpleType>
        <xsd:restriction base="dms:Unknown"/>
      </xsd:simpleType>
    </xsd:element>
    <xsd:element name="TaxKeywordTaxHTField" ma:index="28" nillable="true" ma:taxonomy="true" ma:internalName="TaxKeywordTaxHTField" ma:taxonomyFieldName="_x0024_Resources_x003a_Shinhan_x002e_SECM_x002c_SECM_Tag_x003b_" ma:displayName="태그" ma:fieldId="{23f27201-bee3-471e-b2e7-b64fd8b7ca38}" ma:sspId="96a0a356-442d-4f6b-a94d-6cf794afc7d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KeywordTaxHTField" ma:index="29" nillable="true" ma:taxonomy="true" ma:internalName="TaxKeywordTaxHTField" ma:taxonomyFieldName="_x0024_Resources_x003a_Shinhan_x002e_SECM_x002c_SECM_Tag_x003b_" ma:displayName="태그" ma:fieldId="{23f27201-bee3-471e-b2e7-b64fd8b7ca38}" ma:sspId="96a0a356-442d-4f6b-a94d-6cf794afc7d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30" nillable="true" ma:displayName="분류 통합 열" ma:hidden="true" ma:list="{cf0abc9f-436f-4c39-935d-d958889942a5}" ma:internalName="_xbd84__xb958__x0020__xd1b5__xd569__x0020__xc5f4_" ma:showField="CatchAllData" ma:web="8cd75931-4820-4705-b734-8e3213bc4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" ma:index="32" nillable="true" ma:displayName="분류 통합 열" ma:hidden="true" ma:list="{cf0abc9f-436f-4c39-935d-d958889942a5}" ma:internalName="_xbd84__xb958__x0020__xd1b5__xd569__x0020__xc5f4_" ma:readOnly="false" ma:showField="CatchAllData" ma:web="8cd75931-4820-4705-b734-8e3213bc4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abc9f-436f-4c39-935d-d958889942a5" elementFormDefault="qualified">
    <xsd:import namespace="http://schemas.microsoft.com/office/2006/documentManagement/types"/>
    <xsd:import namespace="http://schemas.microsoft.com/office/infopath/2007/PartnerControls"/>
    <xsd:element name="p8e18d85fc704bdcb22f5c57f515b400" ma:index="31" nillable="true" ma:taxonomy="true" ma:internalName="p8e18d85fc704bdcb22f5c57f515b400" ma:taxonomyFieldName="SECM_ProductTaxonomy" ma:displayName="상품 분류" ma:fieldId="{98e18d85-fc70-4bdc-b22f-5c57f515b400}" ma:taxonomyMulti="true" ma:sspId="96a0a356-442d-4f6b-a94d-6cf794afc7d0" ma:termSetId="0a9ed155-57eb-4a99-be45-3250d523d03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0d3b05fe5940e099c4d8a1c9f76e9b" ma:index="33" nillable="true" ma:taxonomy="true" ma:internalName="da0d3b05fe5940e099c4d8a1c9f76e9b" ma:taxonomyFieldName="SECM_CustomerTaxonomy" ma:displayName="고객 분류" ma:fieldId="{da0d3b05-fe59-40e0-99c4-d8a1c9f76e9b}" ma:taxonomyMulti="true" ma:sspId="96a0a356-442d-4f6b-a94d-6cf794afc7d0" ma:termSetId="d4c5b3bb-3225-47c7-abed-710e1b1ade1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97906bf6245473798e9f5d3338a9f74" ma:index="35" nillable="true" ma:taxonomy="true" ma:internalName="m97906bf6245473798e9f5d3338a9f74" ma:taxonomyFieldName="SECM_WorkTaxonomy" ma:displayName="문서/업무 유형" ma:fieldId="{697906bf-6245-4737-98e9-f5d3338a9f74}" ma:taxonomyMulti="true" ma:sspId="96a0a356-442d-4f6b-a94d-6cf794afc7d0" ma:termSetId="b2b07d2f-717d-4377-97d9-8f8a39db501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5" ma:displayName="콘텐츠 형식"/>
        <xsd:element ref="dc:title" minOccurs="0" maxOccurs="1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CM_ModifiedDate xmlns="7EF688D4-48AB-4559-A8CA-64AF7C78EB76" xsi:nil="true"/>
    <_UIVersionString xmlns="http://schemas.microsoft.com/sharepoint/v3" xsi:nil="true"/>
    <SECM_CreateDate xmlns="7EF688D4-48AB-4559-A8CA-64AF7C78EB76" xsi:nil="true"/>
    <SECM_ViewCnt xmlns="7EF688D4-48AB-4559-A8CA-64AF7C78EB76">0</SECM_ViewCnt>
    <SECM_DocID xmlns="7EF688D4-48AB-4559-A8CA-64AF7C78EB76" xsi:nil="true"/>
    <SECM_Author xmlns="7EF688D4-48AB-4559-A8CA-64AF7C78EB76" xsi:nil="true"/>
  </documentManagement>
</p:properties>
</file>

<file path=customXml/itemProps1.xml><?xml version="1.0" encoding="utf-8"?>
<ds:datastoreItem xmlns:ds="http://schemas.openxmlformats.org/officeDocument/2006/customXml" ds:itemID="{6D002737-9D84-4183-96B2-08BAEF7F9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6C0DDA-0211-4087-BBE9-40969241D0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F0ABC9F-436F-4C39-935D-D958889942A5"/>
    <ds:schemaRef ds:uri="8cd75931-4820-4705-b734-8e3213bc41d8"/>
    <ds:schemaRef ds:uri="cf0abc9f-436f-4c39-935d-d95888994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1EF0D3-0198-4736-9E4D-75644C355481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7EF688D4-48AB-4559-A8CA-64AF7C78EB7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20363</TotalTime>
  <Words>229</Words>
  <Application>Microsoft Office PowerPoint</Application>
  <PresentationFormat>사용자 지정</PresentationFormat>
  <Paragraphs>71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원신한 Light</vt:lpstr>
      <vt:lpstr>원신한 Bold</vt:lpstr>
      <vt:lpstr>나눔고딕 ExtraBold</vt:lpstr>
      <vt:lpstr>나눔고딕</vt:lpstr>
      <vt:lpstr>원신한 Medium</vt:lpstr>
      <vt:lpstr>Arial</vt:lpstr>
      <vt:lpstr>휴먼둥근헤드라인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shinhan</dc:creator>
  <cp:lastModifiedBy>윤유진(19607857)</cp:lastModifiedBy>
  <cp:revision>2408</cp:revision>
  <cp:lastPrinted>2020-12-02T02:25:10Z</cp:lastPrinted>
  <dcterms:created xsi:type="dcterms:W3CDTF">2015-06-26T07:42:31Z</dcterms:created>
  <dcterms:modified xsi:type="dcterms:W3CDTF">2025-07-02T01:20:51Z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0x01010044C64254786844049F7D44627C6FAEFF00353C532A54CA2441B52431A1AB1FCD40</vt:lpwstr>
  </property>
</Properties>
</file>